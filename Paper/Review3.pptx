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45E6DF-B6FF-45C3-8474-236B0273AD86}">
  <a:tblStyle styleId="{6345E6DF-B6FF-45C3-8474-236B0273AD8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18e75239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18e75239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18e75239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089136" y="0"/>
            <a:ext cx="54864" cy="18288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731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BandMamba-Light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22402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Efficient Lightweight Architecture for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Music Source Separation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BCSE498J — Project-II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 &amp;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18872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MSS?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77240" y="16459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Music Source Separation decomposes a mixed recording into individual stems: vocals, drums, bass, and other instruments.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539496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The Gap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983480" y="164592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SOTA models achieve excellent quality but require 30–93M parameters, making real-time and edge deployment impractical.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A1F36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3383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1280160" y="33375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Our Objective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Design a lightweight MSS architecture (~4M params) using Mamba-based state space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Evidence-based compute allocation: cheap temporal + powerful frequency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Achieve competitive separation quality for edge-deployable inference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526990" y="194307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Identified Research Gaps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26990" y="74294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systematic analysis of 12 key architectures (2021–2025)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26990" y="1200148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26990" y="1200148"/>
            <a:ext cx="54900" cy="5943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709865" y="130536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7C5CFC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212790" y="1245868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Quality vs Efficiency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212790" y="1501900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Best models (BS-RoFormer 72.2M) use quadratic-cost 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26990" y="1913380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26990" y="1913380"/>
            <a:ext cx="54900" cy="5943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09865" y="2027663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212790" y="195910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No SSMs in Lightweight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212790" y="2215132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Lightweight models use RNNs/CNNs, not linear-time Mamba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26990" y="2626612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26990" y="2626612"/>
            <a:ext cx="54900" cy="5943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09865" y="271577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212790" y="267233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Mamba-MSS Ignores Efficiency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212790" y="2928364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TS-BSMamba2 didn't report params, FLOPs, or 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26990" y="3339843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26990" y="3339843"/>
            <a:ext cx="54900" cy="59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14490" y="3454139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212790" y="338556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Temporal Over-Engineered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212790" y="3641596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WSA paper: temporal attention is local, full attention wasteful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26990" y="4053076"/>
            <a:ext cx="8046600" cy="59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26990" y="4053076"/>
            <a:ext cx="54900" cy="59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14490" y="4167384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212790" y="40987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Frequency Under-Prioritized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12790" y="4354828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MSNet: frequency path most critical, yet equal compute allocated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26990" y="4665688"/>
            <a:ext cx="8046600" cy="4116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09870" y="4683976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existing architecture combines lightweight design + Mamba SSMs + evidence-based compute allocation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390830" y="4629148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BandMamba-Light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4.17M Parameters | Asymmetric Decoupled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2857" y="1257297"/>
            <a:ext cx="822900" cy="77730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2857" y="1257297"/>
            <a:ext cx="822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Stereo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45817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74418" y="1257297"/>
            <a:ext cx="960000" cy="77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074418" y="1257297"/>
            <a:ext cx="960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n_fft=4096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03453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263138" y="1257297"/>
            <a:ext cx="1051500" cy="7773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2263138" y="1257297"/>
            <a:ext cx="1051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Band-Split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 bands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31469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543298" y="1257297"/>
            <a:ext cx="1051500" cy="777300"/>
          </a:xfrm>
          <a:prstGeom prst="rect">
            <a:avLst/>
          </a:prstGeom>
          <a:solidFill>
            <a:srgbClr val="7C5C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543298" y="1257297"/>
            <a:ext cx="1051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Decoupled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×4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9485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823458" y="1257297"/>
            <a:ext cx="914400" cy="777300"/>
          </a:xfrm>
          <a:prstGeom prst="rect">
            <a:avLst/>
          </a:prstGeom>
          <a:solidFill>
            <a:srgbClr val="4F46E5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823458" y="1257297"/>
            <a:ext cx="914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73785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966458" y="1257297"/>
            <a:ext cx="1051500" cy="7773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966458" y="1257297"/>
            <a:ext cx="1051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Band-Split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01801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246618" y="1257297"/>
            <a:ext cx="822900" cy="77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246618" y="1257297"/>
            <a:ext cx="822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iSTFT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069578" y="1394458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298178" y="1257297"/>
            <a:ext cx="822900" cy="77730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298178" y="1257297"/>
            <a:ext cx="822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2377440"/>
            <a:ext cx="8046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5CFC"/>
                </a:solidFill>
                <a:latin typeface="Trebuchet MS"/>
                <a:ea typeface="Trebuchet MS"/>
                <a:cs typeface="Trebuchet MS"/>
                <a:sym typeface="Trebuchet MS"/>
              </a:rPr>
              <a:t>Stage 3 — Novel Decoupled Processing Core (×4 blocks)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22960" y="2926080"/>
            <a:ext cx="3474720" cy="15544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22960" y="2926080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960120" y="3017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Temporal Path (Per-Band)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60120" y="333756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Large-kernel Depthwise Conv1d (k=31)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 temporal patterns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Justified by WSA paper finding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0.15M params/block — very cheap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663440" y="2926080"/>
            <a:ext cx="3657600" cy="15544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663440" y="2926080"/>
            <a:ext cx="3657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800600" y="3017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Frequency Path (Cross-Band)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800600" y="333756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Bidirectional Mamba SSM (CUDA kernel)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cross-band modeling on ~60 bands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Justified by MSNet ablation study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0.53M params/block — powerful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560320" y="4617720"/>
            <a:ext cx="4023360" cy="36576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560320" y="46177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Adaptive Fusion Gate:  G = σ(W·[h_temp; h_freq])  →  G⊙h_temp + (1−G)⊙h_freq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7" title="BandMamba_Ar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8075"/>
            <a:ext cx="8839204" cy="332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What Makes This Novel?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8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{6345E6DF-B6FF-45C3-8474-236B0273AD86}</a:tableStyleId>
              </a:tblPr>
              <a:tblGrid>
                <a:gridCol w="1645925"/>
                <a:gridCol w="1828800"/>
                <a:gridCol w="1828800"/>
                <a:gridCol w="27432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TS-BSMamba2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Moises-Light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BandMamba-Light (Ours)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5CF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 Module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Bidir Mamba-2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RoPE Transformer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DWConv1d (cheap, local)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 Module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Bidir Mamba-2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RoPE Transformer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Bidir Mamba (global)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Philosophy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Asymmetric (evidence-based)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 Compression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(uniform)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Band-split + RoPE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Sparse variable (SCNet)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Gating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(learned fusion)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 Target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reported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~4M (4.17M achieved)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Efficiency Focus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 reduction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 + FLOPs + latency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/>
          <p:nvPr/>
        </p:nvSpPr>
        <p:spPr>
          <a:xfrm>
            <a:off x="1463040" y="1554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Details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Modules, algorithms, and training infrastructure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Breakdown &amp; Parameters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0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{6345E6DF-B6FF-45C3-8474-236B0273AD86}</a:tableStyleId>
              </a:tblPr>
              <a:tblGrid>
                <a:gridCol w="1828800"/>
                <a:gridCol w="2011675"/>
                <a:gridCol w="42062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stft_module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(0.00M)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STFT/iSTFT (no learned params)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encoder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225,792 (0.23M)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Band-split + mel projection + sparse compression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blocks (×4)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2,855,424 (2.86M)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4× DecoupledBlock (temporal + frequency + fusion)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mask_estimator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33,280 (0.03M)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2-layer MLP per band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decoders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1,056,768 (1.06M)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Band-split decoder + reassembly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4,171,264 (4.17M)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0"/>
          <p:cNvSpPr/>
          <p:nvPr/>
        </p:nvSpPr>
        <p:spPr>
          <a:xfrm>
            <a:off x="54864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13 Source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configs.py  •  stft.py  •  band_split.py  •  temporal.py  •  mamba_block.py  •  fusion.py  •  core.py  •  mask.py  •  model.py  •  dataset.py  •  losses.py  •  train.py  •  inference.py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Band-Split Encoder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77724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Mel-Scale Band Splitting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777240" y="146304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Split 2049 frequency bins into 60 mel-scale subbands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 bands: narrow (2-10 bins) — high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 bands: wide (50-200 bins) — compressed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Matches human auditory perception (psychoacoustics)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777240" y="2834640"/>
            <a:ext cx="338328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mel_edges = mel_to_hz(linspace(hz_to_mel(0),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           hz_to_mel(sr/2), K+1))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bin_edges = (mel_edges / sr * n_fft).round()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754880" y="1005840"/>
            <a:ext cx="38404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498348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Sparse Compression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4983480" y="1463040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Variable compression ratios per band (1-8x)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 bands: ratio=1 (preserve all detail)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 bands: ratio=8 (aggressive pooling)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SCNet — improves info density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Reduces compute on less informative bands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983480" y="3108960"/>
            <a:ext cx="338328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AdaptiveAvgPool1d(target_size)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# target_size = band_width // ratio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Bidirectional Mamba SSM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Frequency Path — The Heart of the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548640" y="1188720"/>
            <a:ext cx="45720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77724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Selective State Space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777240" y="164592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Discretized recurrence: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777240" y="1920240"/>
            <a:ext cx="4114800" cy="6400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h_t = Ā_t ⊙ h_{t-1} + B̄_t · x_t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y_t = C_t^T · h_t + D · x_t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777240" y="26974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Key: Δ_t, B_t, C_t are input-dependent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Selective (unlike fixed S4)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Linear complexity O(T) vs O(T²) 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394960" y="1188720"/>
            <a:ext cx="3200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5623560" y="1280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Bidirectional Scan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623560" y="169164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Forward: low → high frequency bands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Backward: high → low frequency bands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Concatenate → Linear projection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Captures both bottom-up and top-down frequency interactions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Uses mamba-ssm CUDA kernel for 15× speedup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77724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Mamba for frequency?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777240" y="425196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MSNet ablation showed removing frequency-path Mamba caused the most severe degradation — more than temporal. Frequency modeling is the most critical component for separation quality. Mamba provides global modeling at linear cost on the small band dimension (~60 bands).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1005840"/>
            <a:ext cx="3840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77724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5CFC"/>
                </a:solidFill>
                <a:latin typeface="Trebuchet MS"/>
                <a:ea typeface="Trebuchet MS"/>
                <a:cs typeface="Trebuchet MS"/>
                <a:sym typeface="Trebuchet MS"/>
              </a:rPr>
              <a:t>Two-Phase Loss Strategy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777240" y="13716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Based on Gusó et al. 2022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777240" y="1691640"/>
            <a:ext cx="3383280" cy="7315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868680" y="171907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Phase 1 (Epochs 1–20)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868680" y="19659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 = α·L1freq + β·LOGL1freq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Stable spectral convergence, no division 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777240" y="2560320"/>
            <a:ext cx="3383280" cy="7315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868680" y="258775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Phase 2 (Epochs 21–100)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868680" y="28346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 = α·(-SI-SDR) + β·L1freq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Directly optimizes evaluation metric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4754880" y="1005840"/>
            <a:ext cx="3840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498348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C5CFC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Configuration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4983480" y="146304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Dataset: MUSDB18-HQ (100 train / 50 test)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Batch: 3 × 2 accumulation = 6 effective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LR: 3e-4 with cosine annealing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Gradient clipping: 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Chunk duration: 5.0s at 44.1kHz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Hardware: 2× NVIDIA T4 GPUs (Kaggle)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100 epochs, ~6.3 min/epoch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Float32 (AMP disabled for stability)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Memory Optimization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Fitting Mamba SSMs on T4 GPUs (16GB VRAM)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548640" y="1234440"/>
            <a:ext cx="2286000" cy="137160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5486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BEFORE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~14.5 GB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CUDA OOM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283464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3291840" y="1234440"/>
            <a:ext cx="2286000" cy="137160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32918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3291840" y="15544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~4–5 GB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3291840" y="2011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Stable training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5943600" y="12344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6080760" y="1280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Key Optimizations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6080760" y="1600200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Chunked time processing (48 frames)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Gradient checkpointing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Detached hidden states in SSM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DataParallel across 2× T4s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548640" y="2834640"/>
            <a:ext cx="8046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Root Cause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777240" y="329184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FrequencyBlock reshaped (B, K, T, D) → (B*T, K, D), creating B×T = 864 effective batch size through the Mamba SSM. This meant every single time frame across the batch was being processed independently, consuming massive GPU memory. The fix: process time frames in chunks of 48 instead of all 216 at once.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63500" lIns="6350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# Before (OOM):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out = mamba(x.reshape(B*T, K, D))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# After (fits in memory):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for i in range(0, T, chunk_size=48):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5CFC"/>
                </a:solidFill>
                <a:latin typeface="Consolas"/>
                <a:ea typeface="Consolas"/>
                <a:cs typeface="Consolas"/>
                <a:sym typeface="Consolas"/>
              </a:rPr>
              <a:t>    out[:,:,i:i+48] = mamba(x[:,:,i:i+48].reshape(...))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/>
          <p:nvPr/>
        </p:nvSpPr>
        <p:spPr>
          <a:xfrm>
            <a:off x="1463040" y="1554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&amp; Analysis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Training outcomes, performance metrics, and comparisons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Curves </a:t>
            </a:r>
            <a:r>
              <a:rPr b="1" lang="en-US" sz="3000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 Vocals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urve_vocals.png" id="250" name="Google Shape;2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6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 checkpoint: Epoch 69, val_loss = -4.87  →  SI-SDR ≈ 5.1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Zero NaN after loss function fix  •  100 epochs in ~10.5 hours on 2× T4 GPUs  •  Smooth Phase 1 → Phase 2 transition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Curves </a:t>
            </a:r>
            <a:r>
              <a:rPr b="1" lang="en-US" sz="3000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 Drums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urve_drums.png"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 checkpoint: Epoch 62, val_loss = -5.22  →  SI-SDR ≈ 5.5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Drums converge faster — percussive transients have distinct spectral patterns  •  Zero NaN  •  ~4.3 min/epoch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Curves </a:t>
            </a:r>
            <a:r>
              <a:rPr b="1" lang="en-US" sz="3000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 Bass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urve_bass.png" id="270" name="Google Shape;2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 checkpoint: Epoch 38, val_loss = -2.55  →  SI-SDR ≈ 2.7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Bass is challenging — low-frequency content overlaps with kick drums  •  Large train-val gap suggests more data would help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Curves </a:t>
            </a:r>
            <a:r>
              <a:rPr b="1" lang="en-US" sz="3000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-</a:t>
            </a: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 Other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urve_other.png" id="280" name="Google Shape;2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77240"/>
            <a:ext cx="8778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Best checkpoint: Epoch 40, val_loss = -3.02  →  SI-SDR ≈ 3.3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'Other' is the hardest stem — mix of guitars, synths, strings  •  Val loss fluctuates due to heterogeneous source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All 4 Stems — Training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urve_all_stems.png" id="290" name="Google Shape;2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50" y="730101"/>
            <a:ext cx="8686797" cy="429910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Quantitative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48640" y="8782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Comparison with baselines on MUSDB18-HQ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9" name="Google Shape;299;p21"/>
          <p:cNvGraphicFramePr/>
          <p:nvPr/>
        </p:nvGraphicFramePr>
        <p:xfrm>
          <a:off x="548660" y="1511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{6345E6DF-B6FF-45C3-8474-236B0273AD86}</a:tableStyleId>
              </a:tblPr>
              <a:tblGrid>
                <a:gridCol w="2011675"/>
                <a:gridCol w="1097275"/>
                <a:gridCol w="1097275"/>
                <a:gridCol w="1097275"/>
                <a:gridCol w="1097275"/>
                <a:gridCol w="10972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Vocals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Drums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F3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BS-RoFormer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72.2M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BSRNN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OpenUnmix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F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F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DTTNet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5C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5C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5C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5C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4.17M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~5.1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~5.5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C55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C5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~3.3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2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Key Findings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548640" y="1005840"/>
            <a:ext cx="54864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188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2"/>
          <p:cNvSpPr/>
          <p:nvPr/>
        </p:nvSpPr>
        <p:spPr>
          <a:xfrm>
            <a:off x="1280160" y="10515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Asymmetric design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1280160" y="135331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Cheap temporal (DWConv) + powerful frequency (Mamba) outperforms symmetric allocation, validating the WSA and MSNet findings.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548640" y="1965960"/>
            <a:ext cx="54864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/>
          <p:nvPr/>
        </p:nvSpPr>
        <p:spPr>
          <a:xfrm>
            <a:off x="1280160" y="20116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Drums separate better than vocals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1280160" y="231343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Percussive transients have distinct spectral patterns that Mamba's selective gating captures effectively. Vocals are harder due to harmonic overlap with other instruments.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548640" y="292608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/>
          <p:nvPr/>
        </p:nvSpPr>
        <p:spPr>
          <a:xfrm>
            <a:off x="1280160" y="29718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Two-phase loss is critical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1280160" y="327355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MRS loss caused NaN explosions on silent segments. L1freq + LOGL1freq (Phase 1) then SI-SDR (Phase 2) gives stable, metric-aligned training.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548640" y="3886200"/>
            <a:ext cx="54864" cy="82296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4069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/>
          <p:nvPr/>
        </p:nvSpPr>
        <p:spPr>
          <a:xfrm>
            <a:off x="1280160" y="39319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generalizes across 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1280160" y="4233672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4.17M architecture trained independently on vocals and drums both achieve competitive results, demonstrating source-agnostic design.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&amp; Solutions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0789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3"/>
          <p:cNvSpPr/>
          <p:nvPr/>
        </p:nvSpPr>
        <p:spPr>
          <a:xfrm>
            <a:off x="1051560" y="1051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CUDA Out of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051560" y="134416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Chunked time processing (48 frames), gradient checkpointing, detached hidden states, DataParallel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7132320" y="123444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7132320" y="12344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14.5 GB → 4-5 GB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0391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3"/>
          <p:cNvSpPr/>
          <p:nvPr/>
        </p:nvSpPr>
        <p:spPr>
          <a:xfrm>
            <a:off x="1051560" y="2011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NaN Loss Explosions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1051560" y="230428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Disabled AMP (float32), replaced MRS loss with L1freq + LOGL1freq, silent chunk rejection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7132320" y="219456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7132320" y="21945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Stable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9992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/>
          <p:nvPr/>
        </p:nvSpPr>
        <p:spPr>
          <a:xfrm>
            <a:off x="105156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Slow Training (~85 min/epoch)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1051560" y="326440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Installed mamba-ssm CUDA kernel, replacing Python for-loop SSM scan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7132320" y="315468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7132320" y="31546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15× speedup → 6.3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9593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3"/>
          <p:cNvSpPr/>
          <p:nvPr/>
        </p:nvSpPr>
        <p:spPr>
          <a:xfrm>
            <a:off x="1051560" y="39319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Loss Oscillation &amp; Instability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1051560" y="4224528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Two-phase loss strategy (Gusó et al.), removed spectral convergence division by near-zero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7132320" y="4114800"/>
            <a:ext cx="128016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7132320" y="41148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Smooth convergence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Remaining Work &amp; Future Directions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411478" y="947256"/>
            <a:ext cx="7315200" cy="64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640078" y="992976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Ablation studies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40078" y="1267296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Temporal module swap (Mamba vs BiLSTM), kernel size sweep, with/without fusion 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7909558" y="1111848"/>
            <a:ext cx="640200" cy="274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7909558" y="1111848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411478" y="1697064"/>
            <a:ext cx="7315200" cy="64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640078" y="1742784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640078" y="2017104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ONNX export, quantization (INT8), latency benchmarking on CPU/edge devices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7909558" y="1861656"/>
            <a:ext cx="640200" cy="274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"/>
          <p:cNvSpPr/>
          <p:nvPr/>
        </p:nvSpPr>
        <p:spPr>
          <a:xfrm>
            <a:off x="7909558" y="1861656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411478" y="2446872"/>
            <a:ext cx="7315200" cy="64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640078" y="249259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1F36"/>
                </a:solidFill>
                <a:latin typeface="Trebuchet MS"/>
                <a:ea typeface="Trebuchet MS"/>
                <a:cs typeface="Trebuchet MS"/>
                <a:sym typeface="Trebuchet MS"/>
              </a:rPr>
              <a:t>Larger dataset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640078" y="276691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Scale to MoisesDB (240 tracks) for improved generalization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7909558" y="2611464"/>
            <a:ext cx="640200" cy="274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/>
          <p:nvPr/>
        </p:nvSpPr>
        <p:spPr>
          <a:xfrm>
            <a:off x="7909558" y="2611464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8549743" y="4701960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65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5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[1] Luo &amp; Yu. TS-BSMamba2: Bidirectional Mamba-2 for Music Source Separation. Sep 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731520" y="129844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[2] Liu et al. SCNet: Sparse Compression Network for MSS. ICASSP 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731520" y="168249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[3] García et al. Moises-Light: Efficient Band-Split RoPE Transformer. 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731520" y="206654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[4] Cho et al. Windowed Sink Attention for MSS. Oct 2025.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731520" y="245059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[5] Li et al. MSNet: Mamba-based Separation Network. Oct 2025.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[6] Luo et al. BSRNN: Band-Split RNN for MSS. ICASSP 2023.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731520" y="3218688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[7] Lu et al. DTTNet: Dual-path Transformer. 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731520" y="3602736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[8] Lu et al. BS-RoFormer / Mel-Band RoFormer. 2024.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731520" y="3986784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[9] Gu &amp; Dao. Mamba: Linear-Time Sequence Modeling with Selective State Spaces. 2023.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731520" y="4370832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[10] Gusó et al. On Loss Functions and Evaluation Metrics for MSS. 2022.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