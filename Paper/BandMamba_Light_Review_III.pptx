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Arial"/>
              </a:rPr>
              <a:t>Phase 1: L1freq + LOGL1freq (Epochs 1-20)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8</c:v>
                  </c:pt>
                  <c:pt idx="4">
                    <c:v>10</c:v>
                  </c:pt>
                  <c:pt idx="5">
                    <c:v>13</c:v>
                  </c:pt>
                  <c:pt idx="6">
                    <c:v>15</c:v>
                  </c:pt>
                  <c:pt idx="7">
                    <c:v>18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2.02</c:v>
                </c:pt>
                <c:pt idx="1">
                  <c:v>1.96</c:v>
                </c:pt>
                <c:pt idx="2">
                  <c:v>1.77</c:v>
                </c:pt>
                <c:pt idx="3">
                  <c:v>1.63</c:v>
                </c:pt>
                <c:pt idx="4">
                  <c:v>1.6</c:v>
                </c:pt>
                <c:pt idx="5">
                  <c:v>1.49</c:v>
                </c:pt>
                <c:pt idx="6">
                  <c:v>1.5</c:v>
                </c:pt>
                <c:pt idx="7">
                  <c:v>1.48</c:v>
                </c:pt>
                <c:pt idx="8">
                  <c:v>1.43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7C5CFC"/>
            </a:solidFill>
            <a:ln w="25400" cap="flat">
              <a:solidFill>
                <a:srgbClr val="7C5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FC"/>
              </a:solidFill>
              <a:ln w="9525" cap="flat">
                <a:solidFill>
                  <a:srgbClr val="7C5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8</c:v>
                  </c:pt>
                  <c:pt idx="4">
                    <c:v>10</c:v>
                  </c:pt>
                  <c:pt idx="5">
                    <c:v>13</c:v>
                  </c:pt>
                  <c:pt idx="6">
                    <c:v>15</c:v>
                  </c:pt>
                  <c:pt idx="7">
                    <c:v>18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2.59</c:v>
                </c:pt>
                <c:pt idx="1">
                  <c:v>2.21</c:v>
                </c:pt>
                <c:pt idx="2">
                  <c:v>2.37</c:v>
                </c:pt>
                <c:pt idx="3">
                  <c:v>1.76</c:v>
                </c:pt>
                <c:pt idx="4">
                  <c:v>1.79</c:v>
                </c:pt>
                <c:pt idx="5">
                  <c:v>1.94</c:v>
                </c:pt>
                <c:pt idx="6">
                  <c:v>1.99</c:v>
                </c:pt>
                <c:pt idx="7">
                  <c:v>2.08</c:v>
                </c:pt>
                <c:pt idx="8">
                  <c:v>2.05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Arial"/>
              </a:rPr>
              <a:t>Phase 2: SI-SDR + L1freq (Epochs 21-100)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21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80</c:v>
                  </c:pt>
                  <c:pt idx="10">
                    <c:v>90</c:v>
                  </c:pt>
                  <c:pt idx="11">
                    <c:v>100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-0.7</c:v>
                </c:pt>
                <c:pt idx="1">
                  <c:v>-3.24</c:v>
                </c:pt>
                <c:pt idx="2">
                  <c:v>-3.87</c:v>
                </c:pt>
                <c:pt idx="3">
                  <c:v>-4.48</c:v>
                </c:pt>
                <c:pt idx="4">
                  <c:v>-4.72</c:v>
                </c:pt>
                <c:pt idx="5">
                  <c:v>-4.89</c:v>
                </c:pt>
                <c:pt idx="6">
                  <c:v>-5.25</c:v>
                </c:pt>
                <c:pt idx="7">
                  <c:v>-5.54</c:v>
                </c:pt>
                <c:pt idx="8">
                  <c:v>-6.16</c:v>
                </c:pt>
                <c:pt idx="9">
                  <c:v>-6.09</c:v>
                </c:pt>
                <c:pt idx="10">
                  <c:v>-6.18</c:v>
                </c:pt>
                <c:pt idx="11">
                  <c:v>-6.54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7C5CFC"/>
            </a:solidFill>
            <a:ln w="25400" cap="flat">
              <a:solidFill>
                <a:srgbClr val="7C5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FC"/>
              </a:solidFill>
              <a:ln w="9525" cap="flat">
                <a:solidFill>
                  <a:srgbClr val="7C5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21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60</c:v>
                  </c:pt>
                  <c:pt idx="8">
                    <c:v>70</c:v>
                  </c:pt>
                  <c:pt idx="9">
                    <c:v>80</c:v>
                  </c:pt>
                  <c:pt idx="10">
                    <c:v>90</c:v>
                  </c:pt>
                  <c:pt idx="11">
                    <c:v>100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0.85</c:v>
                </c:pt>
                <c:pt idx="1">
                  <c:v>-2.8</c:v>
                </c:pt>
                <c:pt idx="2">
                  <c:v>-3.7</c:v>
                </c:pt>
                <c:pt idx="3">
                  <c:v>-2.77</c:v>
                </c:pt>
                <c:pt idx="4">
                  <c:v>-3.51</c:v>
                </c:pt>
                <c:pt idx="5">
                  <c:v>-4.46</c:v>
                </c:pt>
                <c:pt idx="6">
                  <c:v>-4.09</c:v>
                </c:pt>
                <c:pt idx="7">
                  <c:v>-2.58</c:v>
                </c:pt>
                <c:pt idx="8">
                  <c:v>-4.87</c:v>
                </c:pt>
                <c:pt idx="9">
                  <c:v>-4.5</c:v>
                </c:pt>
                <c:pt idx="10">
                  <c:v>-2.18</c:v>
                </c:pt>
                <c:pt idx="11">
                  <c:v>-2.83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Arial"/>
              </a:rPr>
              <a:t>Phase 1 (Epochs 1-20)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1.35</c:v>
                </c:pt>
                <c:pt idx="1">
                  <c:v>1.2</c:v>
                </c:pt>
                <c:pt idx="2">
                  <c:v>1.11</c:v>
                </c:pt>
                <c:pt idx="3">
                  <c:v>1</c:v>
                </c:pt>
                <c:pt idx="4">
                  <c:v>0.95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7C5CFC"/>
            </a:solidFill>
            <a:ln w="25400" cap="flat">
              <a:solidFill>
                <a:srgbClr val="7C5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FC"/>
              </a:solidFill>
              <a:ln w="9525" cap="flat">
                <a:solidFill>
                  <a:srgbClr val="7C5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1.57</c:v>
                </c:pt>
                <c:pt idx="1">
                  <c:v>1.31</c:v>
                </c:pt>
                <c:pt idx="2">
                  <c:v>1.22</c:v>
                </c:pt>
                <c:pt idx="3">
                  <c:v>1.16</c:v>
                </c:pt>
                <c:pt idx="4">
                  <c:v>1.26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Arial"/>
              </a:rPr>
              <a:t>Phase 2 (Epochs 21-100)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14B8A6"/>
            </a:solidFill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21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-0.99</c:v>
                </c:pt>
                <c:pt idx="1">
                  <c:v>-4.04</c:v>
                </c:pt>
                <c:pt idx="2">
                  <c:v>-4.86</c:v>
                </c:pt>
                <c:pt idx="3">
                  <c:v>-5.48</c:v>
                </c:pt>
                <c:pt idx="4">
                  <c:v>-5.62</c:v>
                </c:pt>
                <c:pt idx="5">
                  <c:v>-6.29</c:v>
                </c:pt>
                <c:pt idx="6">
                  <c:v>-6.75</c:v>
                </c:pt>
                <c:pt idx="7">
                  <c:v>-7.18</c:v>
                </c:pt>
                <c:pt idx="8">
                  <c:v>-7.3</c:v>
                </c:pt>
                <c:pt idx="9">
                  <c:v>-7.39</c:v>
                </c:pt>
                <c:pt idx="10">
                  <c:v>-7.44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7C5CFC"/>
            </a:solidFill>
            <a:ln w="25400" cap="flat">
              <a:solidFill>
                <a:srgbClr val="7C5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FC"/>
              </a:solidFill>
              <a:ln w="9525" cap="flat">
                <a:solidFill>
                  <a:srgbClr val="7C5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21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-2.51</c:v>
                </c:pt>
                <c:pt idx="1">
                  <c:v>-3.91</c:v>
                </c:pt>
                <c:pt idx="2">
                  <c:v>-4.77</c:v>
                </c:pt>
                <c:pt idx="3">
                  <c:v>-4.21</c:v>
                </c:pt>
                <c:pt idx="4">
                  <c:v>-4.28</c:v>
                </c:pt>
                <c:pt idx="5">
                  <c:v>-4.74</c:v>
                </c:pt>
                <c:pt idx="6">
                  <c:v>-4.38</c:v>
                </c:pt>
                <c:pt idx="7">
                  <c:v>-4.16</c:v>
                </c:pt>
                <c:pt idx="8">
                  <c:v>-2.72</c:v>
                </c:pt>
                <c:pt idx="9">
                  <c:v>-3.25</c:v>
                </c:pt>
                <c:pt idx="10">
                  <c:v>-3.18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(M)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5CF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BS-RoFormer</c:v>
                  </c:pt>
                  <c:pt idx="1">
                    <c:v>BSRNN</c:v>
                  </c:pt>
                  <c:pt idx="2">
                    <c:v>OpenUnmix</c:v>
                  </c:pt>
                  <c:pt idx="3">
                    <c:v>DTTNet</c:v>
                  </c:pt>
                  <c:pt idx="4">
                    <c:v>SCNet-S</c:v>
                  </c:pt>
                  <c:pt idx="5">
                    <c:v>Ours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72.2</c:v>
                </c:pt>
                <c:pt idx="1">
                  <c:v>33</c:v>
                </c:pt>
                <c:pt idx="2">
                  <c:v>9</c:v>
                </c:pt>
                <c:pt idx="3">
                  <c:v>5</c:v>
                </c:pt>
                <c:pt idx="4">
                  <c:v>2.5</c:v>
                </c:pt>
                <c:pt idx="5">
                  <c:v>4.17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18288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BandMamba-Light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Lightweight Architecture for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Source Separation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4.17M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~5.1 dB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9184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Vocals SI-SDR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~5.5 dB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5216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 SI-SDR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BCSE498J — Project-II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MSS?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Source Separation decomposes a mixed recording into individual stems: vocals, drums, bass, and other instruments.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models achieve excellent quality but require 30–93M parameters, making real-time and edge deployment impractical.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lightweight MSS architecture (~4M params) using Mamba-based state space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compute allocation: cheap temporal + powerful frequency modeling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competitive separation quality for edge-deployable inference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Research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systematic analysis of 12 key architectures (2021–2025)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5943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vs Efficiency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(BS-RoFormer 72.2M) use quadratic-cost 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93392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SSMs in Lightweight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models use RNNs/CNNs, not linear-time Mamba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06624"/>
            <a:ext cx="54864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752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Mamba-MSS Ignores Efficiency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0083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TS-BSMamba2 didn't report params, FLOPs, or latency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Over-Engineered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7216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paper: temporal attention is local, full attention wasteful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3308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Under-Prioritized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434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MSNet: frequency path most critical, yet equal compute allocated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architecture combines lightweight design + Mamba SSMs + evidence-based compute allocation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BandMamba-Light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4.17M Parameters | Asymmetric Decoupled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229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25880" y="1280160"/>
            <a:ext cx="96012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12801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n_fft=4096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05156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bands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760" y="1280160"/>
            <a:ext cx="1051560" cy="777240"/>
          </a:xfrm>
          <a:prstGeom prst="rect">
            <a:avLst/>
          </a:prstGeom>
          <a:solidFill>
            <a:srgbClr val="7C5CF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×4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1280160"/>
            <a:ext cx="914400" cy="77724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280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105156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948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1280160"/>
            <a:ext cx="82296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iSTFT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49640" y="1280160"/>
            <a:ext cx="8229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377440"/>
            <a:ext cx="80467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Novel Decoupled Processing Core (×4 blocks)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2926080"/>
            <a:ext cx="3474720" cy="15544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2926080"/>
            <a:ext cx="3474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Path (Per-Band)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337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Large-kernel Depthwise Conv1d (k=31)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temporal patterns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WSA paper finding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0.15M params/block — very cheap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3657600" cy="1554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2926080"/>
            <a:ext cx="3657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Path (Cross-Band)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3375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Mamba SSM (CUDA kernel)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cross-band modeling on ~60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MSNet ablation study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0.53M params/block — powerful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Gate:  G = σ(W·[h_temp; h_freq])  →  G⊙h_temp + (1−G)⊙h_freq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This Novel?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TS-BSMamba2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Moises-Light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BandMamba-Light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DWConv1d (cheap, 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Philosophy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(evidence-based)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(uniform)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+ RoPE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variable (SCNet)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Gating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(learned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2.2–4.5M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~4M (4.17M achieved)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+ FLOPs +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Details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algorithms, and training infrastructure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Breakdown &amp; Parameters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206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stft_module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(0.00M)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STFT/iSTFT (no learned params)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225,792 (0.23M)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+ mel projection + sparse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blocks (×4)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2,855,424 (2.86M)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DecoupledBlock (temporal + frequency +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mask_estimator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33,280 (0.03M)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MLP per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decoders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1,056,768 (1.06M)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decoder + reassembly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4,171,264 (4.17M)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Source Files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configs.py  •  stft.py  •  band_split.py  •  temporal.py  •  mamba_block.py  •  fusion.py  •  core.py  •  mask.py  •  model.py  •  dataset.py  •  losses.py  •  train.py  •  inference.py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Band-Split Encoder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Mel-Scale Band Splitting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2049 frequency bins into 60 mel-scale subbands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bands: narrow (2-10 bins) — high detail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bands: wide (50-200 bins) — compressed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human auditory perception (psychoacoustics)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38328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mel_edges = mel_to_hz(linspace(hz_to_mel(0),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hz_to_mel(sr/2), K+1))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bin_edges = (mel_edges / sr * n_fft).round()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Compression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463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compression ratios per band (1-8x)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bands: ratio=1 (preserve all detail)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bands: ratio=8 (aggressive pooling)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SCNet — improves info density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compute on less informative bands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3108960"/>
            <a:ext cx="338328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AdaptiveAvgPool1d(target_size)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target_size = band_width // 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Bidirectional Mamba SSM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Path — The Heart of the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Selective State Space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recurrence: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114800" cy="64008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Ā_t ⊙ h_{t-1} + B̄_t · x_t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 = C_t^T · h_t + D · x_t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Δ_t, B_t, C_t are input-dependent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Selective (unlike fixed S4)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 complexity O(T) vs O(T²) 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3200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Bidirectional Scan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691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low → high frequency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high → low frequency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→ Linear projection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bottom-up and top-down frequency interactions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mamba-ssm CUDA kernel for 15× speedup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Mamba for frequency?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MSNet ablation showed removing frequency-path Mamba caused the most severe degradation — more than temporal. Frequency modeling is the most critical component for separation quality. Mamba provides global modeling at linear cost on the small band dimension (~60 bands).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Loss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Gusó et al. 2022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83280" cy="7315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(Epochs 1–20)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α·L1freq + β·LOGL1freq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spectral convergence, no division issues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3383280" cy="731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(Epochs 21–100)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α·(-SI-SDR) + β·L1freq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optimizes evaluation metric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MUSDB18-HQ (100 train / 50 test)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3 × 2 accumulation = 6 effective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3e-4 with cosine annealing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clipping: 1.0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duration: 5.0s at 44.1kHz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2× NVIDIA T4 GPUs (Kaggle)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epochs, ~6.3 min/epoch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(AMP disabled for stability)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Mamba SSMs on T4 GPUs (16GB VRAM)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~14.5 GB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28600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~4–5 GB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Optimizations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time processing (48 frames)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hidden states in SSM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DataParallel across 2× T4s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FrequencyBlock reshaped (B, K, T, D) → (B*T, K, D), creating B×T = 864 effective batch size through the Mamba SSM. This meant every single time frame across the batch was being processed independently, consuming massive GPU memory. The fix: process time frames in chunks of 48 instead of all 216 at once.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(OOM):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mamba(x.reshape(B*T, K, D))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(fits in memory):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T, chunk_size=48):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out[:,:,i:i+48] = mamba(x[:,:,i:i+48].reshape(...))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Analysis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outcomes, performance metrics, and comparisons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Vocals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1440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" y="3840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69, val_loss = -4.87  →  SI-SDR ≈ 5.1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NaN after loss function fix  •  100 epochs completed in ~10.5 hours on 2× T4 GPUs  •  Smooth Phase 1 → Phase 2 transition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Drums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1440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" y="3840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62, val_loss = -5.22  →  SI-SDR ≈ 5.5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 converge faster than vocals — percussive transients have distinct spectral patterns  •  Zero NaN  •  ~4.3 min/epoch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baselines on MUSDB18-HQ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Vocals SI-SDR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Drums SI-SDR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BS-RoFormer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OpenUnmix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DTTNet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SCNet-S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C5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BandMamba-Light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5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~5.1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4114800"/>
          <a:ext cx="80467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Asymmetric design works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3533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temporal (DWConv) + powerful frequency (Mamba) outperforms symmetric allocation, validating the WSA and MSNet findings.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96596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 separate better than vocals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23134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Percussive transients have distinct spectral patterns that Mamba's selective gating captures effectively. Vocals are harder due to harmonic overlap with other instruments.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2608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loss is critical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32735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loss caused NaN explosions on silent segments. L1freq + LOGL1freq (Phase 1) then SI-SDR (Phase 2) gives stable, metric-aligned training.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8862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931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generalizes across stems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280160" y="42336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4.17M architecture trained independently on vocals and drums both achieve competitive results, demonstrating source-agnostic design.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78992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 Out of Memory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" y="1344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time processing (48 frames), gradient checkpointing, detached hidden states, DataParallel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 GB → 4-5 GB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 Loss Explosions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304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AMP (float32), replaced MRS loss with L1freq + LOGL1freq, silent chunk rejection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992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Training (~85 min/epoch)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" y="3264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mamba-ssm CUDA kernel, replacing Python for-loop SSM scan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Text 15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speedup → 6.3 min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5935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Oscillation &amp; Instability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5156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loss strategy (Gusó et al.), removed spectral convergence division by near-zero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convergence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Work &amp; 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remaining 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and Other instrument models (same architecture, different target)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0" y="1170432"/>
            <a:ext cx="6400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1170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SDR 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museval on full MUSDB18-HQ test set (50 tracks) for median SDR scores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6400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551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825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module swap (Mamba vs BiLSTM), kernel size sweep, with/without fusion 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670048"/>
            <a:ext cx="64008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300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5753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export, quantization (INT8), latency benchmarking on CPU/edge devices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419856"/>
            <a:ext cx="64008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3419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050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Larger dataset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325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MoisesDB (240 tracks) for improved generalization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169664"/>
            <a:ext cx="64008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4169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Luo &amp; Yu. TS-BSMamba2: Bidirectional Mamba-2 for Music Source Separation. Sep 2024.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298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Liu et al. SCNet: Sparse Compression Network for MSS. ICASSP 2024.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16824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García et al. Moises-Light: Efficient Band-Split RoPE Transformer. 2024.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0665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Cho et al. Windowed Sink Attention for MSS. Oct 2025.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Li et al. MSNet: Mamba-based Separation Network. Oct 2025.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Luo et al. BSRNN: Band-Split RNN for MSS. ICASSP 2023.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3218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Lu et al. DTTNet: Dual-path Transformer. 2024.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Lu et al. BS-RoFormer / Mel-Band RoFormer. 2024.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Gu &amp; Dao. Mamba: Linear-Time Sequence Modeling with Selective State Spaces. 2023.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Gusó et al. On Loss Functions and Evaluation Metrics for MSS. 2022.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BandMamba-Light: Efficient Lightweight Architecture for Music Source Separation</dc:title>
  <dc:subject>PptxGenJS Presentation</dc:subject>
  <dc:creator>Aman</dc:creator>
  <cp:lastModifiedBy>Aman</cp:lastModifiedBy>
  <cp:revision>1</cp:revision>
  <dcterms:created xsi:type="dcterms:W3CDTF">2026-03-21T21:18:17Z</dcterms:created>
  <dcterms:modified xsi:type="dcterms:W3CDTF">2026-03-21T21:18:17Z</dcterms:modified>
</cp:coreProperties>
</file>