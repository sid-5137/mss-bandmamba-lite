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345E6DF-B6FF-45C3-8474-236B0273AD86}">
  <a:tblStyle styleId="{6345E6DF-B6FF-45C3-8474-236B0273AD86}" styleName="Table_0">
    <a:wholeTbl>
      <a:tcTxStyle>
        <a:srgbClr val="000000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57705664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5182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26437428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97196092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4180505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5506321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64411460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1571" name="Google Shape;12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3668675" name="Google Shape;13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6816218" name="Google Shape;14;p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165251" name="Google Shape;25;p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8602987" name="Google Shape;26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1312318" name="Google Shape;27;p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531045" name="Google Shape;44;p3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0896005" name="Google Shape;45;p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4184691" name="Google Shape;46;p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050516" name="Google Shape;79;p4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6990631" name="Google Shape;80;p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9987972" name="Google Shape;81;p4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599023" name="Google Shape;122;g3d18e75239a_0_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998402" name="Google Shape;123;g3d18e75239a_0_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20134975" name="Google Shape;124;g3d18e75239a_0_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88342" name="Google Shape;128;p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6693022" name="Google Shape;129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35767226" name="Google Shape;130;p5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556426" name="Google Shape;136;p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5481900" name="Google Shape;137;p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38747596" name="Google Shape;138;p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03946" name="Google Shape;147;p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829830" name="Google Shape;148;p7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9146154" name="Google Shape;149;p7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096421" name="Google Shape;157;p8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592836" name="Google Shape;158;p8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4299257" name="Google Shape;159;p8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499146" name="Google Shape;172;p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280812" name="Google Shape;173;p9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3841317" name="Google Shape;174;p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463774" name="Google Shape;191;p1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2289856" name="Google Shape;192;p10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17292311" name="Google Shape;193;p1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262985" name="Google Shape;210;p1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9476548" name="Google Shape;211;p1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85043575" name="Google Shape;212;p1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253144" name="Google Shape;234;p1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5771312" name="Google Shape;235;p1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22969003" name="Google Shape;236;p1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768131" name="Google Shape;245;p13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715580" name="Google Shape;246;p1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54440707" name="Google Shape;247;p1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015997" name="Google Shape;255;p14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609506" name="Google Shape;256;p1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5510495" name="Google Shape;257;p14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022140" name="Google Shape;265;p1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1742782" name="Google Shape;266;p1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835816" name="Google Shape;267;p15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702626" name="Google Shape;275;p1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611931" name="Google Shape;276;p1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387195" name="Google Shape;277;p1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658696" name="Google Shape;285;p1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0294125" name="Google Shape;286;p17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5580187" name="Google Shape;287;p17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602346" name="Google Shape;293;p18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005215" name="Google Shape;294;p18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63579210" name="Google Shape;295;p18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43553" name="Google Shape;302;p1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547456" name="Google Shape;303;p19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0874478" name="Google Shape;304;p1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728570" name="Google Shape;329;p2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9658313" name="Google Shape;330;p20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6562742" name="Google Shape;331;p2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586261" name="Google Shape;360;p2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840780" name="Google Shape;361;p2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9525830" name="Google Shape;362;p2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342351" name="Google Shape;382;p2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6692387" name="Google Shape;383;p2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59080508" name="Google Shape;384;p2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83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795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5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CFE2B-642B-CBF6-0613-E651FB71FD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64618" name="Google Shape;16;p3"/>
          <p:cNvSpPr/>
          <p:nvPr/>
        </p:nvSpPr>
        <p:spPr bwMode="auto">
          <a:xfrm>
            <a:off x="6858000" y="0"/>
            <a:ext cx="22860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90146419" name="Google Shape;17;p3"/>
          <p:cNvSpPr/>
          <p:nvPr/>
        </p:nvSpPr>
        <p:spPr bwMode="auto">
          <a:xfrm>
            <a:off x="9089136" y="0"/>
            <a:ext cx="54864" cy="18288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812406905" name="Google Shape;18;p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731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066759" name="Google Shape;19;p3"/>
          <p:cNvSpPr/>
          <p:nvPr/>
        </p:nvSpPr>
        <p:spPr bwMode="auto">
          <a:xfrm>
            <a:off x="731520" y="1371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  <a:defRPr/>
            </a:pPr>
            <a:r>
              <a:rPr lang="en-US" sz="4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Audio Source Separation</a:t>
            </a:r>
            <a:endParaRPr lang="en-US" sz="4200" b="1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737031013" name="Google Shape;20;p3"/>
          <p:cNvSpPr/>
          <p:nvPr/>
        </p:nvSpPr>
        <p:spPr bwMode="auto">
          <a:xfrm>
            <a:off x="731520" y="22402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  <a:defRPr/>
            </a:pPr>
            <a:r>
              <a:rPr lang="en-US" sz="2000" b="1" i="0" u="none" strike="noStrike" cap="none" spc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BandMamba-Lite: </a:t>
            </a:r>
            <a:r>
              <a:rPr lang="en-US" sz="20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Efficient Lightweight Architecture for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  <a:defRPr/>
            </a:pPr>
            <a:r>
              <a:rPr lang="en-US" sz="20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Music Source Separation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7878059" name="Google Shape;21;p3"/>
          <p:cNvSpPr/>
          <p:nvPr/>
        </p:nvSpPr>
        <p:spPr bwMode="auto">
          <a:xfrm>
            <a:off x="731520" y="3200400"/>
            <a:ext cx="13716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68981586" name="Google Shape;22;p3"/>
          <p:cNvSpPr/>
          <p:nvPr/>
        </p:nvSpPr>
        <p:spPr bwMode="auto">
          <a:xfrm>
            <a:off x="731520" y="4572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BCSE498J — Project-II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3963348" name="Google Shape;23;p3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6109566" name=""/>
          <p:cNvSpPr txBox="1"/>
          <p:nvPr/>
        </p:nvSpPr>
        <p:spPr bwMode="auto">
          <a:xfrm rot="0" flipH="0" flipV="0">
            <a:off x="5817020" y="3918084"/>
            <a:ext cx="3059947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>
                <a:solidFill>
                  <a:schemeClr val="bg1"/>
                </a:solidFill>
              </a:rPr>
              <a:t>Name: Siddhartha Mallavolu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>
                <a:solidFill>
                  <a:schemeClr val="bg1"/>
                </a:solidFill>
              </a:rPr>
              <a:t>Reg.No:  22BCE5137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>
                <a:solidFill>
                  <a:schemeClr val="bg1"/>
                </a:solidFill>
              </a:rPr>
              <a:t>Guide: Dr. S. A. Sajidha</a:t>
            </a:r>
            <a:endParaRPr>
              <a:solidFill>
                <a:schemeClr val="bg1"/>
              </a:solidFill>
            </a:endParaRPr>
          </a:p>
          <a:p>
            <a:pPr algn="just">
              <a:defRPr/>
            </a:pPr>
            <a:r>
              <a:rPr>
                <a:solidFill>
                  <a:schemeClr val="bg1"/>
                </a:solidFill>
              </a:rPr>
              <a:t>School: S.C.O.P.E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666809" name="Google Shape;29;p4"/>
          <p:cNvSpPr/>
          <p:nvPr/>
        </p:nvSpPr>
        <p:spPr bwMode="auto"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Problem Statement &amp; 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2754599" name="Google Shape;30;p4"/>
          <p:cNvSpPr/>
          <p:nvPr/>
        </p:nvSpPr>
        <p:spPr bwMode="auto"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825377980" name="Google Shape;31;p4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7724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621398" name="Google Shape;32;p4"/>
          <p:cNvSpPr/>
          <p:nvPr/>
        </p:nvSpPr>
        <p:spPr bwMode="auto">
          <a:xfrm>
            <a:off x="118872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Trebuchet MS"/>
              <a:buNone/>
              <a:defRPr/>
            </a:pPr>
            <a:r>
              <a:rPr lang="en-US" sz="16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What is MSS?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1795440" name="Google Shape;33;p4"/>
          <p:cNvSpPr/>
          <p:nvPr/>
        </p:nvSpPr>
        <p:spPr bwMode="auto">
          <a:xfrm>
            <a:off x="777240" y="16459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Music Source Separation decomposes a mixed recording into individual stems: vocals, drums, bass, and other instruments.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81217" name="Google Shape;34;p4"/>
          <p:cNvSpPr/>
          <p:nvPr/>
        </p:nvSpPr>
        <p:spPr bwMode="auto"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2182768" name="Google Shape;35;p4" descr="preencoded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98348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990605" name="Google Shape;36;p4"/>
          <p:cNvSpPr/>
          <p:nvPr/>
        </p:nvSpPr>
        <p:spPr bwMode="auto">
          <a:xfrm>
            <a:off x="539496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Trebuchet MS"/>
              <a:buNone/>
              <a:defRPr/>
            </a:pPr>
            <a:r>
              <a:rPr lang="en-US" sz="16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The Gap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2915644" name="Google Shape;37;p4"/>
          <p:cNvSpPr/>
          <p:nvPr/>
        </p:nvSpPr>
        <p:spPr bwMode="auto">
          <a:xfrm>
            <a:off x="4983480" y="16459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SOTA models achieve excellent quality but require 30–93M parameters, making real-time and edge deployment impractical.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2514768" name="Google Shape;38;p4"/>
          <p:cNvSpPr/>
          <p:nvPr/>
        </p:nvSpPr>
        <p:spPr bwMode="auto">
          <a:xfrm>
            <a:off x="548640" y="3200400"/>
            <a:ext cx="8046720" cy="1463040"/>
          </a:xfrm>
          <a:prstGeom prst="rect">
            <a:avLst/>
          </a:prstGeom>
          <a:solidFill>
            <a:srgbClr val="1A1F36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662281635" name="Google Shape;39;p4" descr="preencoded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822960" y="3383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9366842" name="Google Shape;40;p4"/>
          <p:cNvSpPr/>
          <p:nvPr/>
        </p:nvSpPr>
        <p:spPr bwMode="auto">
          <a:xfrm>
            <a:off x="1280160" y="3337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Our Objective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9153180" name="Google Shape;41;p4"/>
          <p:cNvSpPr/>
          <p:nvPr/>
        </p:nvSpPr>
        <p:spPr bwMode="auto">
          <a:xfrm>
            <a:off x="914400" y="37490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  <a:defRPr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Design a lightweight MSS architecture (~4M params) using Mamba-based state space models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  <a:defRPr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Evidence-based compute allocation: cheap temporal + powerful frequency modeling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  <a:defRPr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Achieve competitive separation quality for edge-deployable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4916523" name="Google Shape;42;p4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79869" name="Google Shape;48;p5"/>
          <p:cNvSpPr/>
          <p:nvPr/>
        </p:nvSpPr>
        <p:spPr bwMode="auto">
          <a:xfrm>
            <a:off x="526990" y="194307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Identified Research Gaps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1175669" name="Google Shape;49;p5"/>
          <p:cNvSpPr/>
          <p:nvPr/>
        </p:nvSpPr>
        <p:spPr bwMode="auto">
          <a:xfrm>
            <a:off x="526990" y="74294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  <a:defRPr/>
            </a:pPr>
            <a:r>
              <a:rPr lang="en-US" sz="12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From systematic analysis of 12 key architectures (2021–2025)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6226371" name="Google Shape;50;p5"/>
          <p:cNvSpPr/>
          <p:nvPr/>
        </p:nvSpPr>
        <p:spPr bwMode="auto">
          <a:xfrm>
            <a:off x="526990" y="1200148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853364" name="Google Shape;51;p5"/>
          <p:cNvSpPr/>
          <p:nvPr/>
        </p:nvSpPr>
        <p:spPr bwMode="auto">
          <a:xfrm>
            <a:off x="526990" y="1200148"/>
            <a:ext cx="54900" cy="5943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31968399" name="Google Shape;52;p5"/>
          <p:cNvSpPr/>
          <p:nvPr/>
        </p:nvSpPr>
        <p:spPr bwMode="auto">
          <a:xfrm>
            <a:off x="709865" y="130536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800"/>
              <a:buFont typeface="Trebuchet MS"/>
              <a:buNone/>
              <a:defRPr/>
            </a:pPr>
            <a:r>
              <a:rPr lang="en-US" sz="1800" b="1" i="0" u="none" strike="noStrike" cap="none">
                <a:solidFill>
                  <a:srgbClr val="7C5CFC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3807717" name="Google Shape;53;p5"/>
          <p:cNvSpPr/>
          <p:nvPr/>
        </p:nvSpPr>
        <p:spPr bwMode="auto">
          <a:xfrm>
            <a:off x="1212789" y="1245868"/>
            <a:ext cx="256019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Quality vs Efficiency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289124" name="Google Shape;54;p5"/>
          <p:cNvSpPr/>
          <p:nvPr/>
        </p:nvSpPr>
        <p:spPr bwMode="auto">
          <a:xfrm>
            <a:off x="1212789" y="1501900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Best models (BS-RoFormer 72.2M) use quadratic-cost attention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3378372" name="Google Shape;55;p5"/>
          <p:cNvSpPr/>
          <p:nvPr/>
        </p:nvSpPr>
        <p:spPr bwMode="auto">
          <a:xfrm>
            <a:off x="526990" y="1913379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30187755" name="Google Shape;56;p5"/>
          <p:cNvSpPr/>
          <p:nvPr/>
        </p:nvSpPr>
        <p:spPr bwMode="auto">
          <a:xfrm>
            <a:off x="526990" y="1913379"/>
            <a:ext cx="54900" cy="59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1357037" name="Google Shape;57;p5"/>
          <p:cNvSpPr/>
          <p:nvPr/>
        </p:nvSpPr>
        <p:spPr bwMode="auto">
          <a:xfrm>
            <a:off x="709865" y="2027663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Trebuchet MS"/>
              <a:buNone/>
              <a:defRPr/>
            </a:pPr>
            <a:r>
              <a:rPr lang="en-US" sz="1800" b="1" i="0" u="none" strike="noStrike" cap="none">
                <a:solidFill>
                  <a:srgbClr val="F97316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2518591" name="Google Shape;58;p5"/>
          <p:cNvSpPr/>
          <p:nvPr/>
        </p:nvSpPr>
        <p:spPr bwMode="auto">
          <a:xfrm>
            <a:off x="1212789" y="1959100"/>
            <a:ext cx="256019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No SSMs in Lightweight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6412878" name="Google Shape;59;p5"/>
          <p:cNvSpPr/>
          <p:nvPr/>
        </p:nvSpPr>
        <p:spPr bwMode="auto">
          <a:xfrm>
            <a:off x="1212789" y="2215132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Lightweight models use RNNs/CNNs, not linear-time Mamba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0214633" name="Google Shape;60;p5"/>
          <p:cNvSpPr/>
          <p:nvPr/>
        </p:nvSpPr>
        <p:spPr bwMode="auto">
          <a:xfrm>
            <a:off x="526990" y="2626612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38021430" name="Google Shape;61;p5"/>
          <p:cNvSpPr/>
          <p:nvPr/>
        </p:nvSpPr>
        <p:spPr bwMode="auto">
          <a:xfrm>
            <a:off x="526990" y="2626612"/>
            <a:ext cx="54900" cy="5943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25816854" name="Google Shape;62;p5"/>
          <p:cNvSpPr/>
          <p:nvPr/>
        </p:nvSpPr>
        <p:spPr bwMode="auto">
          <a:xfrm>
            <a:off x="709865" y="271577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Trebuchet MS"/>
              <a:buNone/>
              <a:defRPr/>
            </a:pPr>
            <a:r>
              <a:rPr lang="en-US" sz="18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2077420" name="Google Shape;63;p5"/>
          <p:cNvSpPr/>
          <p:nvPr/>
        </p:nvSpPr>
        <p:spPr bwMode="auto">
          <a:xfrm>
            <a:off x="1212789" y="2672332"/>
            <a:ext cx="256019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Mamba-MSS Ignores Efficiency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6630006" name="Google Shape;64;p5"/>
          <p:cNvSpPr/>
          <p:nvPr/>
        </p:nvSpPr>
        <p:spPr bwMode="auto">
          <a:xfrm>
            <a:off x="1212789" y="292836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TS-BSMamba2 didn't report params, FLOPs, or latency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0532469" name="Google Shape;65;p5"/>
          <p:cNvSpPr/>
          <p:nvPr/>
        </p:nvSpPr>
        <p:spPr bwMode="auto">
          <a:xfrm>
            <a:off x="526990" y="3339843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90903235" name="Google Shape;66;p5"/>
          <p:cNvSpPr/>
          <p:nvPr/>
        </p:nvSpPr>
        <p:spPr bwMode="auto">
          <a:xfrm>
            <a:off x="526990" y="3339843"/>
            <a:ext cx="54900" cy="59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65546091" name="Google Shape;67;p5"/>
          <p:cNvSpPr/>
          <p:nvPr/>
        </p:nvSpPr>
        <p:spPr bwMode="auto">
          <a:xfrm>
            <a:off x="714489" y="345413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Trebuchet MS"/>
              <a:buNone/>
              <a:defRPr/>
            </a:pPr>
            <a:r>
              <a:rPr lang="en-US" sz="18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2116105" name="Google Shape;68;p5"/>
          <p:cNvSpPr/>
          <p:nvPr/>
        </p:nvSpPr>
        <p:spPr bwMode="auto">
          <a:xfrm>
            <a:off x="1212789" y="3385564"/>
            <a:ext cx="256019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Temporal Over-Engineered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6257092" name="Google Shape;69;p5"/>
          <p:cNvSpPr/>
          <p:nvPr/>
        </p:nvSpPr>
        <p:spPr bwMode="auto">
          <a:xfrm>
            <a:off x="1212789" y="3641596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WSA paper: temporal attention is local, full attention wasteful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5420464" name="Google Shape;70;p5"/>
          <p:cNvSpPr/>
          <p:nvPr/>
        </p:nvSpPr>
        <p:spPr bwMode="auto">
          <a:xfrm>
            <a:off x="526990" y="4053076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3100282" name="Google Shape;71;p5"/>
          <p:cNvSpPr/>
          <p:nvPr/>
        </p:nvSpPr>
        <p:spPr bwMode="auto">
          <a:xfrm>
            <a:off x="526990" y="4053076"/>
            <a:ext cx="54900" cy="59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61225287" name="Google Shape;72;p5"/>
          <p:cNvSpPr/>
          <p:nvPr/>
        </p:nvSpPr>
        <p:spPr bwMode="auto">
          <a:xfrm>
            <a:off x="714489" y="416738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Trebuchet MS"/>
              <a:buNone/>
              <a:defRPr/>
            </a:pPr>
            <a:r>
              <a:rPr lang="en-US" sz="18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4227021" name="Google Shape;73;p5"/>
          <p:cNvSpPr/>
          <p:nvPr/>
        </p:nvSpPr>
        <p:spPr bwMode="auto">
          <a:xfrm>
            <a:off x="1212789" y="4098796"/>
            <a:ext cx="256019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Frequency Under-Prioritized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3510820" name="Google Shape;74;p5"/>
          <p:cNvSpPr/>
          <p:nvPr/>
        </p:nvSpPr>
        <p:spPr bwMode="auto">
          <a:xfrm>
            <a:off x="1212789" y="4354828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MSNet: frequency path most critical, yet equal compute allocated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3503791" name="Google Shape;75;p5"/>
          <p:cNvSpPr/>
          <p:nvPr/>
        </p:nvSpPr>
        <p:spPr bwMode="auto">
          <a:xfrm>
            <a:off x="526990" y="4665688"/>
            <a:ext cx="8046600" cy="4116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9518503" name="Google Shape;76;p5"/>
          <p:cNvSpPr/>
          <p:nvPr/>
        </p:nvSpPr>
        <p:spPr bwMode="auto">
          <a:xfrm>
            <a:off x="709870" y="4683976"/>
            <a:ext cx="768089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existing architecture combines lightweight design + Mamba SSMs + evidence-based compute allocation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2479983" name="Google Shape;77;p5"/>
          <p:cNvSpPr/>
          <p:nvPr/>
        </p:nvSpPr>
        <p:spPr bwMode="auto">
          <a:xfrm>
            <a:off x="8390830" y="4629148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111778" name="Google Shape;83;p6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BandMamba-Light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1275822" name="Google Shape;84;p6"/>
          <p:cNvSpPr/>
          <p:nvPr/>
        </p:nvSpPr>
        <p:spPr bwMode="auto"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  <a:defRPr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4.17M Parameters | Asymmetric Decoupled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547562" name="Google Shape;85;p6"/>
          <p:cNvSpPr/>
          <p:nvPr/>
        </p:nvSpPr>
        <p:spPr bwMode="auto">
          <a:xfrm>
            <a:off x="22857" y="1257297"/>
            <a:ext cx="822900" cy="777299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9981795" name="Google Shape;86;p6"/>
          <p:cNvSpPr/>
          <p:nvPr/>
        </p:nvSpPr>
        <p:spPr bwMode="auto">
          <a:xfrm>
            <a:off x="22857" y="1257297"/>
            <a:ext cx="8229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Stereo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8120496" name="Google Shape;87;p6"/>
          <p:cNvSpPr/>
          <p:nvPr/>
        </p:nvSpPr>
        <p:spPr bwMode="auto">
          <a:xfrm>
            <a:off x="845816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0851939" name="Google Shape;88;p6"/>
          <p:cNvSpPr/>
          <p:nvPr/>
        </p:nvSpPr>
        <p:spPr bwMode="auto">
          <a:xfrm>
            <a:off x="1074418" y="1257297"/>
            <a:ext cx="960000" cy="77729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38804892" name="Google Shape;89;p6"/>
          <p:cNvSpPr/>
          <p:nvPr/>
        </p:nvSpPr>
        <p:spPr bwMode="auto">
          <a:xfrm>
            <a:off x="1074418" y="1257297"/>
            <a:ext cx="9600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STFT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n_fft=4096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6449282" name="Google Shape;90;p6"/>
          <p:cNvSpPr/>
          <p:nvPr/>
        </p:nvSpPr>
        <p:spPr bwMode="auto">
          <a:xfrm>
            <a:off x="203453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7783542" name="Google Shape;91;p6"/>
          <p:cNvSpPr/>
          <p:nvPr/>
        </p:nvSpPr>
        <p:spPr bwMode="auto">
          <a:xfrm>
            <a:off x="2263138" y="1257297"/>
            <a:ext cx="1051500" cy="777299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91101028" name="Google Shape;92;p6"/>
          <p:cNvSpPr/>
          <p:nvPr/>
        </p:nvSpPr>
        <p:spPr bwMode="auto">
          <a:xfrm>
            <a:off x="2263138" y="1257297"/>
            <a:ext cx="10515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Band-Split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Encoder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60 bands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713140" name="Google Shape;93;p6"/>
          <p:cNvSpPr/>
          <p:nvPr/>
        </p:nvSpPr>
        <p:spPr bwMode="auto">
          <a:xfrm>
            <a:off x="331469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616446" name="Google Shape;94;p6"/>
          <p:cNvSpPr/>
          <p:nvPr/>
        </p:nvSpPr>
        <p:spPr bwMode="auto">
          <a:xfrm>
            <a:off x="3543298" y="1257297"/>
            <a:ext cx="1051500" cy="777299"/>
          </a:xfrm>
          <a:prstGeom prst="rect">
            <a:avLst/>
          </a:prstGeom>
          <a:solidFill>
            <a:srgbClr val="7C5CFC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94860069" name="Google Shape;95;p6"/>
          <p:cNvSpPr/>
          <p:nvPr/>
        </p:nvSpPr>
        <p:spPr bwMode="auto">
          <a:xfrm>
            <a:off x="3543298" y="1257297"/>
            <a:ext cx="10515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Decoupled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Core ×4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3540982" name="Google Shape;96;p6"/>
          <p:cNvSpPr/>
          <p:nvPr/>
        </p:nvSpPr>
        <p:spPr bwMode="auto">
          <a:xfrm>
            <a:off x="459485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3428401" name="Google Shape;97;p6"/>
          <p:cNvSpPr/>
          <p:nvPr/>
        </p:nvSpPr>
        <p:spPr bwMode="auto">
          <a:xfrm>
            <a:off x="4823458" y="1257297"/>
            <a:ext cx="914400" cy="777299"/>
          </a:xfrm>
          <a:prstGeom prst="rect">
            <a:avLst/>
          </a:prstGeom>
          <a:solidFill>
            <a:srgbClr val="4F46E5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73426634" name="Google Shape;98;p6"/>
          <p:cNvSpPr/>
          <p:nvPr/>
        </p:nvSpPr>
        <p:spPr bwMode="auto">
          <a:xfrm>
            <a:off x="4823458" y="1257297"/>
            <a:ext cx="9144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Estimator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1217234" name="Google Shape;99;p6"/>
          <p:cNvSpPr/>
          <p:nvPr/>
        </p:nvSpPr>
        <p:spPr bwMode="auto">
          <a:xfrm>
            <a:off x="573785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9668030" name="Google Shape;100;p6"/>
          <p:cNvSpPr/>
          <p:nvPr/>
        </p:nvSpPr>
        <p:spPr bwMode="auto">
          <a:xfrm>
            <a:off x="5966458" y="1257297"/>
            <a:ext cx="1051500" cy="777299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82092497" name="Google Shape;101;p6"/>
          <p:cNvSpPr/>
          <p:nvPr/>
        </p:nvSpPr>
        <p:spPr bwMode="auto">
          <a:xfrm>
            <a:off x="5966458" y="1257297"/>
            <a:ext cx="10515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Band-Split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Decoder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5864625" name="Google Shape;102;p6"/>
          <p:cNvSpPr/>
          <p:nvPr/>
        </p:nvSpPr>
        <p:spPr bwMode="auto">
          <a:xfrm>
            <a:off x="701801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8590711" name="Google Shape;103;p6"/>
          <p:cNvSpPr/>
          <p:nvPr/>
        </p:nvSpPr>
        <p:spPr bwMode="auto">
          <a:xfrm>
            <a:off x="7246618" y="1257297"/>
            <a:ext cx="822900" cy="77729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11964483" name="Google Shape;104;p6"/>
          <p:cNvSpPr/>
          <p:nvPr/>
        </p:nvSpPr>
        <p:spPr bwMode="auto">
          <a:xfrm>
            <a:off x="7246618" y="1257297"/>
            <a:ext cx="8229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iSTFT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4115589" name="Google Shape;105;p6"/>
          <p:cNvSpPr/>
          <p:nvPr/>
        </p:nvSpPr>
        <p:spPr bwMode="auto">
          <a:xfrm>
            <a:off x="806957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4816456" name="Google Shape;106;p6"/>
          <p:cNvSpPr/>
          <p:nvPr/>
        </p:nvSpPr>
        <p:spPr bwMode="auto">
          <a:xfrm>
            <a:off x="8298178" y="1257297"/>
            <a:ext cx="822900" cy="777299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6755912" name="Google Shape;107;p6"/>
          <p:cNvSpPr/>
          <p:nvPr/>
        </p:nvSpPr>
        <p:spPr bwMode="auto">
          <a:xfrm>
            <a:off x="8298178" y="1257297"/>
            <a:ext cx="822900" cy="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2371261" name="Google Shape;108;p6"/>
          <p:cNvSpPr/>
          <p:nvPr/>
        </p:nvSpPr>
        <p:spPr bwMode="auto">
          <a:xfrm>
            <a:off x="548640" y="2377440"/>
            <a:ext cx="8046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0276465" name="Google Shape;109;p6"/>
          <p:cNvSpPr/>
          <p:nvPr/>
        </p:nvSpPr>
        <p:spPr bwMode="auto">
          <a:xfrm>
            <a:off x="731520" y="24688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7C5CFC"/>
                </a:solidFill>
                <a:latin typeface="Trebuchet MS"/>
                <a:ea typeface="Trebuchet MS"/>
                <a:cs typeface="Trebuchet MS"/>
              </a:rPr>
              <a:t>Stage 3 — Novel Decoupled Processing Core (×4 blocks)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0381668" name="Google Shape;110;p6"/>
          <p:cNvSpPr/>
          <p:nvPr/>
        </p:nvSpPr>
        <p:spPr bwMode="auto">
          <a:xfrm>
            <a:off x="822960" y="2926080"/>
            <a:ext cx="3474720" cy="1554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002275" name="Google Shape;111;p6"/>
          <p:cNvSpPr/>
          <p:nvPr/>
        </p:nvSpPr>
        <p:spPr bwMode="auto">
          <a:xfrm>
            <a:off x="822960" y="2926080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83007902" name="Google Shape;112;p6"/>
          <p:cNvSpPr/>
          <p:nvPr/>
        </p:nvSpPr>
        <p:spPr bwMode="auto">
          <a:xfrm>
            <a:off x="960120" y="301751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F97316"/>
                </a:solidFill>
                <a:latin typeface="Trebuchet MS"/>
                <a:ea typeface="Trebuchet MS"/>
                <a:cs typeface="Trebuchet MS"/>
              </a:rPr>
              <a:t>Temporal Path (Per-Band)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7974043" name="Google Shape;113;p6"/>
          <p:cNvSpPr/>
          <p:nvPr/>
        </p:nvSpPr>
        <p:spPr bwMode="auto">
          <a:xfrm>
            <a:off x="960120" y="33375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Large-kernel Depthwise Conv1d (k=31)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Local temporal patterns only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Justified by WSA paper finding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0.15M params/block — very cheap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1431142" name="Google Shape;114;p6"/>
          <p:cNvSpPr/>
          <p:nvPr/>
        </p:nvSpPr>
        <p:spPr bwMode="auto">
          <a:xfrm>
            <a:off x="4663440" y="2926080"/>
            <a:ext cx="3657600" cy="1554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1857879" name="Google Shape;115;p6"/>
          <p:cNvSpPr/>
          <p:nvPr/>
        </p:nvSpPr>
        <p:spPr bwMode="auto">
          <a:xfrm>
            <a:off x="4663440" y="2926080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07524349" name="Google Shape;116;p6"/>
          <p:cNvSpPr/>
          <p:nvPr/>
        </p:nvSpPr>
        <p:spPr bwMode="auto">
          <a:xfrm>
            <a:off x="4800600" y="3017519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Frequency Path (Cross-Band)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9882248" name="Google Shape;117;p6"/>
          <p:cNvSpPr/>
          <p:nvPr/>
        </p:nvSpPr>
        <p:spPr bwMode="auto">
          <a:xfrm>
            <a:off x="4800600" y="333756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Bidirectional Mamba SSM (CUDA kernel)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Global cross-band modeling on ~60 bands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Justified by MSNet ablation study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0.53M params/block — powerful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560679" name="Google Shape;118;p6"/>
          <p:cNvSpPr/>
          <p:nvPr/>
        </p:nvSpPr>
        <p:spPr bwMode="auto">
          <a:xfrm>
            <a:off x="2560320" y="4617720"/>
            <a:ext cx="4023360" cy="36576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928631" name="Google Shape;119;p6"/>
          <p:cNvSpPr/>
          <p:nvPr/>
        </p:nvSpPr>
        <p:spPr bwMode="auto">
          <a:xfrm>
            <a:off x="2560320" y="46177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Adaptive Fusion Gate:  G = σ(W·[h_temp; h_freq])  →  G⊙h_temp + (1−G)⊙h_freq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4500443" name="Google Shape;120;p6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5172485" name="Google Shape;126;p7" title="BandMamba_Arch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52400" y="1018075"/>
            <a:ext cx="8839204" cy="332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386650" name="Google Shape;132;p8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What Makes This Novel?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8718019" name="Google Shape;133;p8"/>
          <p:cNvGraphicFramePr>
            <a:graphicFrameLocks xmlns:a="http://schemas.openxmlformats.org/drawingml/2006/main"/>
          </p:cNvGraphicFramePr>
          <p:nvPr/>
        </p:nvGraphicFramePr>
        <p:xfrm rot="0">
          <a:off x="548640" y="100584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{6345E6DF-B6FF-45C3-8474-236B0273AD86}</a:tableStyleId>
                <a:noFill/>
              </a:tblPr>
              <a:tblGrid>
                <a:gridCol w="1645925"/>
                <a:gridCol w="1828800"/>
                <a:gridCol w="1828800"/>
                <a:gridCol w="2743200"/>
              </a:tblGrid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TS-BSMamba2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Moises-Light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BandMamba-Light (Ours)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7C5CFC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Temporal Module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Bidir Mamba-2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RoPE Transformer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DWConv1d (cheap, local)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Frequency Module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Bidir Mamba-2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RoPE Transformer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Bidir Mamba (global)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Design Philosophy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Symmetric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Symmetric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Asymmetric (evidence-based)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Band Compression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None (uniform)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Band-split + RoPE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Sparse variable (SCNet)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Adaptive Gating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Yes (learned fusion)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Params Target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Not reported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4.5M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~4M (4.17M achieved)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Efficiency Focus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Param reduction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Params + FLOPs + latency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1493430913" name="Google Shape;134;p8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445538" name="Google Shape;140;p9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402496513" name="Google Shape;141;p9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9911307" name="Google Shape;142;p9"/>
          <p:cNvSpPr/>
          <p:nvPr/>
        </p:nvSpPr>
        <p:spPr bwMode="auto">
          <a:xfrm>
            <a:off x="1463040" y="1554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Implementation Details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0039384" name="Google Shape;143;p9"/>
          <p:cNvSpPr/>
          <p:nvPr/>
        </p:nvSpPr>
        <p:spPr bwMode="auto">
          <a:xfrm>
            <a:off x="146304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Modules, algorithms, and training infrastructure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8791799" name="Google Shape;144;p9"/>
          <p:cNvSpPr/>
          <p:nvPr/>
        </p:nvSpPr>
        <p:spPr bwMode="auto"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4054457" name="Google Shape;145;p9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257419" name="Google Shape;151;p10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Module Breakdown &amp; Parameters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36900030" name="Google Shape;152;p10"/>
          <p:cNvGraphicFramePr>
            <a:graphicFrameLocks xmlns:a="http://schemas.openxmlformats.org/drawingml/2006/main"/>
          </p:cNvGraphicFramePr>
          <p:nvPr/>
        </p:nvGraphicFramePr>
        <p:xfrm rot="0">
          <a:off x="548640" y="100584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{6345E6DF-B6FF-45C3-8474-236B0273AD86}</a:tableStyleId>
                <a:noFill/>
              </a:tblPr>
              <a:tblGrid>
                <a:gridCol w="1828800"/>
                <a:gridCol w="2011675"/>
                <a:gridCol w="4206250"/>
              </a:tblGrid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Parameters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stft_module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0 (0.00M)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STFT/iSTFT (no learned params)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encoder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225,792 (0.23M)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Band-split + mel projection + sparse compression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blocks (×4)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2,855,424 (2.86M)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4× DecoupledBlock (temporal + frequency + fusion)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mask_estimator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33,280 (0.03M)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2-layer MLP per band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decoders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1,056,768 (1.06M)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Band-split decoder + reassembly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</a:rPr>
                        <a:t>TOTAL</a:t>
                      </a:r>
                      <a:endParaRPr sz="1000" u="none" strike="noStrike" cap="none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4,171,264 (4.17M)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  <a:defRPr/>
                      </a:pPr>
                      <a:r>
                        <a:rPr lang="en-US" sz="1000" b="1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Full model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1345318278" name="Google Shape;153;p10"/>
          <p:cNvSpPr/>
          <p:nvPr/>
        </p:nvSpPr>
        <p:spPr bwMode="auto">
          <a:xfrm>
            <a:off x="54864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13 Source Files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1099746" name="Google Shape;154;p10"/>
          <p:cNvSpPr/>
          <p:nvPr/>
        </p:nvSpPr>
        <p:spPr bwMode="auto">
          <a:xfrm>
            <a:off x="548640" y="40690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configs.py  •  stft.py  •  band_split.py  •  temporal.py  •  mamba_block.py  •  fusion.py  •  core.py  •  mask.py  •  model.py  •  dataset.py  •  losses.py  •  train.py  •  inference.py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8918400" name="Google Shape;155;p10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35418" name="Google Shape;161;p11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Band-Split Encoder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3865569" name="Google Shape;162;p11"/>
          <p:cNvSpPr/>
          <p:nvPr/>
        </p:nvSpPr>
        <p:spPr bwMode="auto"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89638902" name="Google Shape;163;p11"/>
          <p:cNvSpPr/>
          <p:nvPr/>
        </p:nvSpPr>
        <p:spPr bwMode="auto">
          <a:xfrm>
            <a:off x="7772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0891B2"/>
                </a:solidFill>
                <a:latin typeface="Trebuchet MS"/>
                <a:ea typeface="Trebuchet MS"/>
                <a:cs typeface="Trebuchet MS"/>
              </a:rPr>
              <a:t>Mel-Scale Band Splitting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7233237" name="Google Shape;164;p11"/>
          <p:cNvSpPr/>
          <p:nvPr/>
        </p:nvSpPr>
        <p:spPr bwMode="auto">
          <a:xfrm>
            <a:off x="777240" y="14630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Split 2049 frequency bins into 60 mel-scale subbands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Low bands: narrow (2-10 bins) — high detail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 bands: wide (50-200 bins) — compressed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Matches human auditory perception (psychoacoustics)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071029" name="Google Shape;165;p11"/>
          <p:cNvSpPr/>
          <p:nvPr/>
        </p:nvSpPr>
        <p:spPr bwMode="auto">
          <a:xfrm>
            <a:off x="777240" y="2834640"/>
            <a:ext cx="33832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63500" tIns="63500" rIns="63500" bIns="63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mel_edges = mel_to_hz(linspace(hz_to_mel(0),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           hz_to_mel(sr/2), K+1))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bin_edges = (mel_edges / sr * n_fft).round()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1189419" name="Google Shape;166;p11"/>
          <p:cNvSpPr/>
          <p:nvPr/>
        </p:nvSpPr>
        <p:spPr bwMode="auto"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16328021" name="Google Shape;167;p11"/>
          <p:cNvSpPr/>
          <p:nvPr/>
        </p:nvSpPr>
        <p:spPr bwMode="auto">
          <a:xfrm>
            <a:off x="498348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0891B2"/>
                </a:solidFill>
                <a:latin typeface="Trebuchet MS"/>
                <a:ea typeface="Trebuchet MS"/>
                <a:cs typeface="Trebuchet MS"/>
              </a:rPr>
              <a:t>Sparse Compression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084339" name="Google Shape;168;p11"/>
          <p:cNvSpPr/>
          <p:nvPr/>
        </p:nvSpPr>
        <p:spPr bwMode="auto">
          <a:xfrm>
            <a:off x="4983480" y="1463040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Variable compression ratios per band (1-8x)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Low bands: ratio=1 (preserve all detail)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 bands: ratio=8 (aggressive pooling)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From SCNet — improves info density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Reduces compute on less informative bands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8133432" name="Google Shape;169;p11"/>
          <p:cNvSpPr/>
          <p:nvPr/>
        </p:nvSpPr>
        <p:spPr bwMode="auto">
          <a:xfrm>
            <a:off x="4983480" y="3108960"/>
            <a:ext cx="338328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63500" tIns="63500" rIns="63500" bIns="63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AdaptiveAvgPool1d(target_size)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# target_size = band_width // ratio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3931407" name="Google Shape;170;p11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312874" name="Google Shape;176;p12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Bidirectional Mamba SSM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9583687" name="Google Shape;177;p12"/>
          <p:cNvSpPr/>
          <p:nvPr/>
        </p:nvSpPr>
        <p:spPr bwMode="auto"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  <a:defRPr/>
            </a:pPr>
            <a:r>
              <a:rPr lang="en-US" sz="13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Frequency Path — The Heart of the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4413619" name="Google Shape;178;p12"/>
          <p:cNvSpPr/>
          <p:nvPr/>
        </p:nvSpPr>
        <p:spPr bwMode="auto"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9315118" name="Google Shape;179;p12"/>
          <p:cNvSpPr/>
          <p:nvPr/>
        </p:nvSpPr>
        <p:spPr bwMode="auto">
          <a:xfrm>
            <a:off x="77724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Selective State Space Model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7182808" name="Google Shape;180;p12"/>
          <p:cNvSpPr/>
          <p:nvPr/>
        </p:nvSpPr>
        <p:spPr bwMode="auto">
          <a:xfrm>
            <a:off x="777240" y="16459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Discretized recurrence: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3677569" name="Google Shape;181;p12"/>
          <p:cNvSpPr/>
          <p:nvPr/>
        </p:nvSpPr>
        <p:spPr bwMode="auto">
          <a:xfrm>
            <a:off x="777240" y="1920240"/>
            <a:ext cx="411480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63500" tIns="63500" rIns="63500" bIns="63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onsolas"/>
              <a:buNone/>
              <a:defRPr/>
            </a:pPr>
            <a:r>
              <a:rPr lang="en-US" sz="1400" b="0" i="0" u="none" strike="noStrike" cap="none">
                <a:solidFill>
                  <a:srgbClr val="1A1F36"/>
                </a:solidFill>
                <a:latin typeface="Consolas"/>
                <a:ea typeface="Consolas"/>
                <a:cs typeface="Consolas"/>
              </a:rPr>
              <a:t>h_t = Ā_t ⊙ h_{t-1} + B̄_t · x_t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onsolas"/>
              <a:buNone/>
              <a:defRPr/>
            </a:pPr>
            <a:r>
              <a:rPr lang="en-US" sz="1400" b="0" i="0" u="none" strike="noStrike" cap="none">
                <a:solidFill>
                  <a:srgbClr val="1A1F36"/>
                </a:solidFill>
                <a:latin typeface="Consolas"/>
                <a:ea typeface="Consolas"/>
                <a:cs typeface="Consolas"/>
              </a:rPr>
              <a:t>y_t = C_t^T · h_t + D · x_t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6359348" name="Google Shape;182;p12"/>
          <p:cNvSpPr/>
          <p:nvPr/>
        </p:nvSpPr>
        <p:spPr bwMode="auto">
          <a:xfrm>
            <a:off x="777240" y="26974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Key: Δ_t, B_t, C_t are input-dependent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 Selective (unlike fixed S4)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 Linear complexity O(T) vs O(T²) attention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9084091" name="Google Shape;183;p12"/>
          <p:cNvSpPr/>
          <p:nvPr/>
        </p:nvSpPr>
        <p:spPr bwMode="auto">
          <a:xfrm>
            <a:off x="5394960" y="1188720"/>
            <a:ext cx="3200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3618975" name="Google Shape;184;p12"/>
          <p:cNvSpPr/>
          <p:nvPr/>
        </p:nvSpPr>
        <p:spPr bwMode="auto">
          <a:xfrm>
            <a:off x="5623560" y="1280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Bidirectional Scan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6789509" name="Google Shape;185;p12"/>
          <p:cNvSpPr/>
          <p:nvPr/>
        </p:nvSpPr>
        <p:spPr bwMode="auto">
          <a:xfrm>
            <a:off x="5623560" y="169164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Forward: low → high frequency bands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Backward: high → low frequency bands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Concatenate → Linear projection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Captures both bottom-up and top-down frequency interactions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Char char="•"/>
              <a:defRPr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Uses mamba-ssm CUDA kernel for 15× speedup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50866" name="Google Shape;186;p12"/>
          <p:cNvSpPr/>
          <p:nvPr/>
        </p:nvSpPr>
        <p:spPr bwMode="auto">
          <a:xfrm>
            <a:off x="548640" y="3840480"/>
            <a:ext cx="8046720" cy="100584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9070990" name="Google Shape;187;p12"/>
          <p:cNvSpPr/>
          <p:nvPr/>
        </p:nvSpPr>
        <p:spPr bwMode="auto">
          <a:xfrm>
            <a:off x="7772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Why Mamba for frequency?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6517883" name="Google Shape;188;p12"/>
          <p:cNvSpPr/>
          <p:nvPr/>
        </p:nvSpPr>
        <p:spPr bwMode="auto">
          <a:xfrm>
            <a:off x="777240" y="42519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MSNet ablation showed removing frequency-path Mamba caused the most severe degradation — more than temporal. Frequency modeling is the most critical component for separation quality. Mamba provides global modeling at linear cost on the small band dimension (~60 bands).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8556625" name="Google Shape;189;p12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53169" name="Google Shape;195;p13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Training Pipeline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8925299" name="Google Shape;196;p13"/>
          <p:cNvSpPr/>
          <p:nvPr/>
        </p:nvSpPr>
        <p:spPr bwMode="auto">
          <a:xfrm>
            <a:off x="548640" y="100584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2986135" name="Google Shape;197;p13"/>
          <p:cNvSpPr/>
          <p:nvPr/>
        </p:nvSpPr>
        <p:spPr bwMode="auto">
          <a:xfrm>
            <a:off x="7772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7C5CFC"/>
                </a:solidFill>
                <a:latin typeface="Trebuchet MS"/>
                <a:ea typeface="Trebuchet MS"/>
                <a:cs typeface="Trebuchet MS"/>
              </a:rPr>
              <a:t>Two-Phase Loss Strategy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5179859" name="Google Shape;198;p13"/>
          <p:cNvSpPr/>
          <p:nvPr/>
        </p:nvSpPr>
        <p:spPr bwMode="auto">
          <a:xfrm>
            <a:off x="777240" y="13716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  <a:defRPr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Based on Gusó et al. 2022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2221180" name="Google Shape;199;p13"/>
          <p:cNvSpPr/>
          <p:nvPr/>
        </p:nvSpPr>
        <p:spPr bwMode="auto">
          <a:xfrm>
            <a:off x="777240" y="1691640"/>
            <a:ext cx="3383280" cy="7315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04906067" name="Google Shape;200;p13"/>
          <p:cNvSpPr/>
          <p:nvPr/>
        </p:nvSpPr>
        <p:spPr bwMode="auto">
          <a:xfrm>
            <a:off x="868680" y="171907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Trebuchet MS"/>
              <a:buNone/>
              <a:defRPr/>
            </a:pPr>
            <a:r>
              <a:rPr lang="en-US" sz="1100" b="1" i="0" u="none" strike="noStrike" cap="none">
                <a:solidFill>
                  <a:srgbClr val="F97316"/>
                </a:solidFill>
                <a:latin typeface="Trebuchet MS"/>
                <a:ea typeface="Trebuchet MS"/>
                <a:cs typeface="Trebuchet MS"/>
              </a:rPr>
              <a:t>Phase 1 (Epochs 1–20)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0239654" name="Google Shape;201;p13"/>
          <p:cNvSpPr/>
          <p:nvPr/>
        </p:nvSpPr>
        <p:spPr bwMode="auto">
          <a:xfrm>
            <a:off x="868680" y="1965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 = α·L1freq + β·LOGL1freq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Stable spectral convergence, no division issues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7534724" name="Google Shape;202;p13"/>
          <p:cNvSpPr/>
          <p:nvPr/>
        </p:nvSpPr>
        <p:spPr bwMode="auto">
          <a:xfrm>
            <a:off x="777240" y="2560320"/>
            <a:ext cx="3383280" cy="7315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91283363" name="Google Shape;203;p13"/>
          <p:cNvSpPr/>
          <p:nvPr/>
        </p:nvSpPr>
        <p:spPr bwMode="auto">
          <a:xfrm>
            <a:off x="868680" y="258775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  <a:defRPr/>
            </a:pPr>
            <a:r>
              <a:rPr lang="en-US" sz="11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Phase 2 (Epochs 21–100)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7361634" name="Google Shape;204;p13"/>
          <p:cNvSpPr/>
          <p:nvPr/>
        </p:nvSpPr>
        <p:spPr bwMode="auto">
          <a:xfrm>
            <a:off x="868680" y="2834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 = α·(-SI-SDR) + β·L1freq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Directly optimizes evaluation metric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7364356" name="Google Shape;205;p13"/>
          <p:cNvSpPr/>
          <p:nvPr/>
        </p:nvSpPr>
        <p:spPr bwMode="auto">
          <a:xfrm>
            <a:off x="4754880" y="100584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3667997" name="Google Shape;206;p13"/>
          <p:cNvSpPr/>
          <p:nvPr/>
        </p:nvSpPr>
        <p:spPr bwMode="auto">
          <a:xfrm>
            <a:off x="498348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7C5CFC"/>
                </a:solidFill>
                <a:latin typeface="Trebuchet MS"/>
                <a:ea typeface="Trebuchet MS"/>
                <a:cs typeface="Trebuchet MS"/>
              </a:rPr>
              <a:t>Training Configuration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9122228" name="Google Shape;207;p13"/>
          <p:cNvSpPr/>
          <p:nvPr/>
        </p:nvSpPr>
        <p:spPr bwMode="auto">
          <a:xfrm>
            <a:off x="4983480" y="146304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Dataset: MUSDB18-HQ (100 train / 50 test)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Batch: 3 × 2 accumulation = 6 effective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LR: 3e-4 with cosine annealing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Gradient clipping: 1.0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Chunk duration: 5.0s at 44.1kHz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Hardware: 2× NVIDIA T4 GPUs (Kaggle)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100 epochs, ~6.3 min/epoch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Float32 (AMP disabled for stability)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4098591" name="Google Shape;208;p13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492957" name="Google Shape;214;p14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Memory Optimization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5827161" name="Google Shape;215;p14"/>
          <p:cNvSpPr/>
          <p:nvPr/>
        </p:nvSpPr>
        <p:spPr bwMode="auto"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  <a:defRPr/>
            </a:pPr>
            <a:r>
              <a:rPr lang="en-US" sz="13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Fitting Mamba SSMs on T4 GPUs (16GB VRAM)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155934" name="Google Shape;216;p14"/>
          <p:cNvSpPr/>
          <p:nvPr/>
        </p:nvSpPr>
        <p:spPr bwMode="auto">
          <a:xfrm>
            <a:off x="548640" y="1234440"/>
            <a:ext cx="228600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16692898" name="Google Shape;217;p14"/>
          <p:cNvSpPr/>
          <p:nvPr/>
        </p:nvSpPr>
        <p:spPr bwMode="auto">
          <a:xfrm>
            <a:off x="5486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BEFORE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4629903" name="Google Shape;218;p14"/>
          <p:cNvSpPr/>
          <p:nvPr/>
        </p:nvSpPr>
        <p:spPr bwMode="auto">
          <a:xfrm>
            <a:off x="548640" y="1554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Trebuchet MS"/>
              <a:buNone/>
              <a:defRPr/>
            </a:pPr>
            <a:r>
              <a:rPr lang="en-US" sz="28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~14.5 GB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6578455" name="Google Shape;219;p14"/>
          <p:cNvSpPr/>
          <p:nvPr/>
        </p:nvSpPr>
        <p:spPr bwMode="auto">
          <a:xfrm>
            <a:off x="54864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CUDA OOM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2105948" name="Google Shape;220;p14"/>
          <p:cNvSpPr/>
          <p:nvPr/>
        </p:nvSpPr>
        <p:spPr bwMode="auto">
          <a:xfrm>
            <a:off x="283464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  <a:defRPr/>
            </a:pPr>
            <a:r>
              <a:rPr lang="en-US" sz="2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1862964" name="Google Shape;221;p14"/>
          <p:cNvSpPr/>
          <p:nvPr/>
        </p:nvSpPr>
        <p:spPr bwMode="auto">
          <a:xfrm>
            <a:off x="3291840" y="1234440"/>
            <a:ext cx="2286000" cy="137160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94860216" name="Google Shape;222;p14"/>
          <p:cNvSpPr/>
          <p:nvPr/>
        </p:nvSpPr>
        <p:spPr bwMode="auto">
          <a:xfrm>
            <a:off x="32918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AFTER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0514305" name="Google Shape;223;p14"/>
          <p:cNvSpPr/>
          <p:nvPr/>
        </p:nvSpPr>
        <p:spPr bwMode="auto">
          <a:xfrm>
            <a:off x="3291840" y="1554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  <a:defRPr/>
            </a:pPr>
            <a:r>
              <a:rPr lang="en-US" sz="2800" b="1" i="0" u="none" strike="noStrike" cap="none">
                <a:solidFill>
                  <a:srgbClr val="22C55E"/>
                </a:solidFill>
                <a:latin typeface="Trebuchet MS"/>
                <a:ea typeface="Trebuchet MS"/>
                <a:cs typeface="Trebuchet MS"/>
              </a:rPr>
              <a:t>~4–5 GB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838440" name="Google Shape;224;p14"/>
          <p:cNvSpPr/>
          <p:nvPr/>
        </p:nvSpPr>
        <p:spPr bwMode="auto">
          <a:xfrm>
            <a:off x="329184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Stable training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5024258" name="Google Shape;225;p14"/>
          <p:cNvSpPr/>
          <p:nvPr/>
        </p:nvSpPr>
        <p:spPr bwMode="auto">
          <a:xfrm>
            <a:off x="5943600" y="12344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8591060" name="Google Shape;226;p14"/>
          <p:cNvSpPr/>
          <p:nvPr/>
        </p:nvSpPr>
        <p:spPr bwMode="auto">
          <a:xfrm>
            <a:off x="6080760" y="1280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Key Optimizations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9282711" name="Google Shape;227;p14"/>
          <p:cNvSpPr/>
          <p:nvPr/>
        </p:nvSpPr>
        <p:spPr bwMode="auto">
          <a:xfrm>
            <a:off x="6080760" y="16002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Chunked time processing (48 frames)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Gradient checkpointing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Detached hidden states in SSM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DataParallel across 2× T4s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1148290" name="Google Shape;228;p14"/>
          <p:cNvSpPr/>
          <p:nvPr/>
        </p:nvSpPr>
        <p:spPr bwMode="auto">
          <a:xfrm>
            <a:off x="548640" y="2834640"/>
            <a:ext cx="8046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10890406" name="Google Shape;229;p14"/>
          <p:cNvSpPr/>
          <p:nvPr/>
        </p:nvSpPr>
        <p:spPr bwMode="auto">
          <a:xfrm>
            <a:off x="777240" y="29260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Trebuchet MS"/>
              <a:buNone/>
              <a:defRPr/>
            </a:pPr>
            <a:r>
              <a:rPr lang="en-US" sz="14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Root Cause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454427" name="Google Shape;230;p14"/>
          <p:cNvSpPr/>
          <p:nvPr/>
        </p:nvSpPr>
        <p:spPr bwMode="auto">
          <a:xfrm>
            <a:off x="777240" y="329184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The FrequencyBlock reshaped (B, K, T, D) → (B*T, K, D), creating B×T = 864 effective batch size through the Mamba SSM. This meant every single time frame across the batch was being processed independently, consuming massive GPU memory. The fix: process time frames in chunks of 48 instead of all 216 at once.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4199095" name="Google Shape;231;p14"/>
          <p:cNvSpPr/>
          <p:nvPr/>
        </p:nvSpPr>
        <p:spPr bwMode="auto">
          <a:xfrm>
            <a:off x="777240" y="3977640"/>
            <a:ext cx="7589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63500" tIns="63500" rIns="63500" bIns="635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# Before (OOM):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out = mamba(x.reshape(B*T, K, D))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# After (fits in memory):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for i in range(0, T, chunk_size=48):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  <a:defRPr/>
            </a:pPr>
            <a:r>
              <a:rPr lang="en-US" sz="1000" b="0" i="0" u="none" strike="noStrike" cap="none">
                <a:solidFill>
                  <a:srgbClr val="7C5CFC"/>
                </a:solidFill>
                <a:latin typeface="Consolas"/>
                <a:ea typeface="Consolas"/>
                <a:cs typeface="Consolas"/>
              </a:rPr>
              <a:t>    out[:,:,i:i+48] = mamba(x[:,:,i:i+48].reshape(...))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2504970" name="Google Shape;232;p14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31970" name="Google Shape;238;p15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852367635" name="Google Shape;239;p15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463294" name="Google Shape;240;p15"/>
          <p:cNvSpPr/>
          <p:nvPr/>
        </p:nvSpPr>
        <p:spPr bwMode="auto">
          <a:xfrm>
            <a:off x="1463040" y="1554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Results &amp; Analysis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597919" name="Google Shape;241;p15"/>
          <p:cNvSpPr/>
          <p:nvPr/>
        </p:nvSpPr>
        <p:spPr bwMode="auto">
          <a:xfrm>
            <a:off x="146304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  <a:defRPr/>
            </a:pPr>
            <a:r>
              <a:rPr lang="en-US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Training outcomes, performance metrics, and comparisons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7893520" name="Google Shape;242;p15"/>
          <p:cNvSpPr/>
          <p:nvPr/>
        </p:nvSpPr>
        <p:spPr bwMode="auto"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16346489" name="Google Shape;243;p15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85709" name="Google Shape;249;p16"/>
          <p:cNvSpPr/>
          <p:nvPr/>
        </p:nvSpPr>
        <p:spPr bwMode="auto"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Training Curves </a:t>
            </a:r>
            <a:r>
              <a:rPr lang="en-US" sz="30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-</a:t>
            </a: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 Vocals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74117700" name="Google Shape;250;p16" descr="/home/claude/curve_vocals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1078774" name="Google Shape;251;p16"/>
          <p:cNvSpPr/>
          <p:nvPr/>
        </p:nvSpPr>
        <p:spPr bwMode="auto"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7836540" name="Google Shape;252;p16"/>
          <p:cNvSpPr/>
          <p:nvPr/>
        </p:nvSpPr>
        <p:spPr bwMode="auto"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Best checkpoint: Epoch 69, val_loss = -4.87  →  SI-SDR ≈ 5.1 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Zero NaN after loss function fix  •  100 epochs in ~10.5 hours on 2× T4 GPUs  •  Smooth Phase 1 → Phase 2 transition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513196" name="Google Shape;253;p16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19244" name="Google Shape;259;p17"/>
          <p:cNvSpPr/>
          <p:nvPr/>
        </p:nvSpPr>
        <p:spPr bwMode="auto"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Training Curves </a:t>
            </a:r>
            <a:r>
              <a:rPr lang="en-US" sz="30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-</a:t>
            </a: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 Drums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77566580" name="Google Shape;260;p17" descr="/home/claude/curve_drums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599673" name="Google Shape;261;p17"/>
          <p:cNvSpPr/>
          <p:nvPr/>
        </p:nvSpPr>
        <p:spPr bwMode="auto"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9462575" name="Google Shape;262;p17"/>
          <p:cNvSpPr/>
          <p:nvPr/>
        </p:nvSpPr>
        <p:spPr bwMode="auto"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Best checkpoint: Epoch 62, val_loss = -5.22  →  SI-SDR ≈ 5.5 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Drums converge faster — percussive transients have distinct spectral patterns  •  Zero NaN  •  ~4.3 min/epoch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9255909" name="Google Shape;263;p17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518315" name="Google Shape;269;p18"/>
          <p:cNvSpPr/>
          <p:nvPr/>
        </p:nvSpPr>
        <p:spPr bwMode="auto"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Training Curves </a:t>
            </a:r>
            <a:r>
              <a:rPr lang="en-US" sz="30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-</a:t>
            </a: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 Bass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38326821" name="Google Shape;270;p18" descr="/home/claude/curve_bass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1707642" name="Google Shape;271;p18"/>
          <p:cNvSpPr/>
          <p:nvPr/>
        </p:nvSpPr>
        <p:spPr bwMode="auto"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836900" name="Google Shape;272;p18"/>
          <p:cNvSpPr/>
          <p:nvPr/>
        </p:nvSpPr>
        <p:spPr bwMode="auto"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Best checkpoint: Epoch 38, val_loss = -2.55  →  SI-SDR ≈ 3.7 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Bass is challenging — low-frequency content overlaps with kick drums  •  Large train-val gap suggests more data would help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6580188" name="Google Shape;273;p18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431056" name="Google Shape;279;p19"/>
          <p:cNvSpPr/>
          <p:nvPr/>
        </p:nvSpPr>
        <p:spPr bwMode="auto"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Training Curves </a:t>
            </a:r>
            <a:r>
              <a:rPr lang="en-US" sz="30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-</a:t>
            </a: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 Other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39709882" name="Google Shape;280;p19" descr="/home/claude/curve_other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904159039" name="Google Shape;281;p19"/>
          <p:cNvSpPr/>
          <p:nvPr/>
        </p:nvSpPr>
        <p:spPr bwMode="auto"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2228403" name="Google Shape;282;p19"/>
          <p:cNvSpPr/>
          <p:nvPr/>
        </p:nvSpPr>
        <p:spPr bwMode="auto"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Best checkpoint: Epoch 40, val_loss = -3.02  →  SI-SDR ≈ 3.3 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'Other' is the hardest stem — mix of guitars, synths, strings  •  Val loss fluctuates due to heterogeneous source types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0148326" name="Google Shape;283;p19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09204" name="Google Shape;289;p20"/>
          <p:cNvSpPr/>
          <p:nvPr/>
        </p:nvSpPr>
        <p:spPr bwMode="auto">
          <a:xfrm>
            <a:off x="54864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All 4 Stems — Training Overview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48185300" name="Google Shape;290;p20" descr="/home/claude/curve_all_stems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320050" y="730101"/>
            <a:ext cx="8686797" cy="42991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812029" name="Google Shape;291;p20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750627" name="Google Shape;297;p21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Quantitative Results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0252166" name="Google Shape;298;p21"/>
          <p:cNvSpPr/>
          <p:nvPr/>
        </p:nvSpPr>
        <p:spPr bwMode="auto">
          <a:xfrm>
            <a:off x="548640" y="8782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  <a:defRPr/>
            </a:pPr>
            <a:r>
              <a:rPr lang="en-US" sz="13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Comparison with baselines on MUSDB18-HQ (SDR in dB, Ours: SI-SDR from validation)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124540020" name="Google Shape;299;p21"/>
          <p:cNvGraphicFramePr>
            <a:graphicFrameLocks xmlns:a="http://schemas.openxmlformats.org/drawingml/2006/main"/>
          </p:cNvGraphicFramePr>
          <p:nvPr/>
        </p:nvGraphicFramePr>
        <p:xfrm rot="0">
          <a:off x="548660" y="1511033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{6345E6DF-B6FF-45C3-8474-236B0273AD86}</a:tableStyleId>
                <a:noFill/>
              </a:tblPr>
              <a:tblGrid>
                <a:gridCol w="2011675"/>
                <a:gridCol w="1097275"/>
                <a:gridCol w="1097275"/>
                <a:gridCol w="1097275"/>
                <a:gridCol w="1097275"/>
                <a:gridCol w="1097275"/>
              </a:tblGrid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Params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Vocals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Drums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Bass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Other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BS-RoFormer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72.2M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10.47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9.97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7.08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6.70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BSRNN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33M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10.04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8.92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6.80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OpenUnmix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~9M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6.40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5.73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4.02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</a:rPr>
                        <a:t>DTTNet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5M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7.17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7.04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5.25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4.45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5CFC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7C5CFC"/>
                          </a:solidFill>
                          <a:latin typeface="Calibri"/>
                          <a:ea typeface="Calibri"/>
                          <a:cs typeface="Calibri"/>
                        </a:rPr>
                        <a:t>Ours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5CFC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7C5CFC"/>
                          </a:solidFill>
                          <a:latin typeface="Calibri"/>
                          <a:ea typeface="Calibri"/>
                          <a:cs typeface="Calibri"/>
                        </a:rPr>
                        <a:t>4.17M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~5.1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~5.5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~3.7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</a:rPr>
                        <a:t>~3.3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E2E8F0"/>
                      </a:solidFill>
                    </a:lnL>
                    <a:lnR w="9525" algn="ctr">
                      <a:solidFill>
                        <a:srgbClr val="E2E8F0"/>
                      </a:solidFill>
                    </a:lnR>
                    <a:lnT w="9525" algn="ctr">
                      <a:solidFill>
                        <a:srgbClr val="E2E8F0"/>
                      </a:solidFill>
                    </a:lnT>
                    <a:lnB w="9525" algn="ctr">
                      <a:solidFill>
                        <a:srgbClr val="E2E8F0"/>
                      </a:solidFill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694712832" name="Google Shape;300;p21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140870" name="Google Shape;306;p22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Key Findings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6900816" name="Google Shape;307;p22"/>
          <p:cNvSpPr/>
          <p:nvPr/>
        </p:nvSpPr>
        <p:spPr bwMode="auto"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9551489" name="Google Shape;308;p22"/>
          <p:cNvSpPr/>
          <p:nvPr/>
        </p:nvSpPr>
        <p:spPr bwMode="auto">
          <a:xfrm>
            <a:off x="548640" y="1005840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241464946" name="Google Shape;309;p22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7724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111730" name="Google Shape;310;p22"/>
          <p:cNvSpPr/>
          <p:nvPr/>
        </p:nvSpPr>
        <p:spPr bwMode="auto">
          <a:xfrm>
            <a:off x="1280160" y="10515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Asymmetric design 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2854141" name="Google Shape;311;p22"/>
          <p:cNvSpPr/>
          <p:nvPr/>
        </p:nvSpPr>
        <p:spPr bwMode="auto">
          <a:xfrm>
            <a:off x="1280160" y="135331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Cheap temporal (DWConv) + powerful frequency (Mamba) outperforms symmetric allocation, validating the WSA and MSNet findings.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96774" name="Google Shape;312;p22"/>
          <p:cNvSpPr/>
          <p:nvPr/>
        </p:nvSpPr>
        <p:spPr bwMode="auto"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2591851" name="Google Shape;313;p22"/>
          <p:cNvSpPr/>
          <p:nvPr/>
        </p:nvSpPr>
        <p:spPr bwMode="auto">
          <a:xfrm>
            <a:off x="548640" y="1965960"/>
            <a:ext cx="54864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291012578" name="Google Shape;314;p22" descr="preencoded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7724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6640759" name="Google Shape;315;p22"/>
          <p:cNvSpPr/>
          <p:nvPr/>
        </p:nvSpPr>
        <p:spPr bwMode="auto">
          <a:xfrm>
            <a:off x="1280160" y="20116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Drums separate better than vocals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9482700" name="Google Shape;316;p22"/>
          <p:cNvSpPr/>
          <p:nvPr/>
        </p:nvSpPr>
        <p:spPr bwMode="auto">
          <a:xfrm>
            <a:off x="1280160" y="231343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Percussive transients have distinct spectral patterns that Mamba's selective gating captures effectively. Vocals are harder due to harmonic overlap with other instruments.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3556986" name="Google Shape;317;p22"/>
          <p:cNvSpPr/>
          <p:nvPr/>
        </p:nvSpPr>
        <p:spPr bwMode="auto"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55579071" name="Google Shape;318;p22"/>
          <p:cNvSpPr/>
          <p:nvPr/>
        </p:nvSpPr>
        <p:spPr bwMode="auto">
          <a:xfrm>
            <a:off x="548640" y="292608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874291312" name="Google Shape;319;p22" descr="preencoded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7724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687883" name="Google Shape;320;p22"/>
          <p:cNvSpPr/>
          <p:nvPr/>
        </p:nvSpPr>
        <p:spPr bwMode="auto">
          <a:xfrm>
            <a:off x="1280160" y="29718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Two-phase loss is critical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2906497" name="Google Shape;321;p22"/>
          <p:cNvSpPr/>
          <p:nvPr/>
        </p:nvSpPr>
        <p:spPr bwMode="auto">
          <a:xfrm>
            <a:off x="1280160" y="327355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MRS loss caused NaN explosions on silent segments. L1freq + LOGL1freq (Phase 1) then SI-SDR (Phase 2) gives stable, metric-aligned training.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5602310" name="Google Shape;322;p22"/>
          <p:cNvSpPr/>
          <p:nvPr/>
        </p:nvSpPr>
        <p:spPr bwMode="auto"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54670301" name="Google Shape;323;p22"/>
          <p:cNvSpPr/>
          <p:nvPr/>
        </p:nvSpPr>
        <p:spPr bwMode="auto">
          <a:xfrm>
            <a:off x="548640" y="3886200"/>
            <a:ext cx="54864" cy="82296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81077777" name="Google Shape;324;p22" descr="preencoded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77240" y="4069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459610" name="Google Shape;325;p22"/>
          <p:cNvSpPr/>
          <p:nvPr/>
        </p:nvSpPr>
        <p:spPr bwMode="auto">
          <a:xfrm>
            <a:off x="1280160" y="39319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Architecture generalizes across stems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1968371" name="Google Shape;326;p22"/>
          <p:cNvSpPr/>
          <p:nvPr/>
        </p:nvSpPr>
        <p:spPr bwMode="auto">
          <a:xfrm>
            <a:off x="1280160" y="423367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Same 4.17M architecture trained independently on all four stems achieves consistent results, demonstrating source-agnostic design.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0533979" name="Google Shape;327;p22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22600" name="Google Shape;333;p23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Challenges &amp; Solutions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0362177" name="Google Shape;334;p23"/>
          <p:cNvSpPr/>
          <p:nvPr/>
        </p:nvSpPr>
        <p:spPr bwMode="auto"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25148282" name="Google Shape;335;p2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10789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383641" name="Google Shape;336;p23"/>
          <p:cNvSpPr/>
          <p:nvPr/>
        </p:nvSpPr>
        <p:spPr bwMode="auto">
          <a:xfrm>
            <a:off x="1051560" y="1051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CUDA Out of Memory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5583773" name="Google Shape;337;p23"/>
          <p:cNvSpPr/>
          <p:nvPr/>
        </p:nvSpPr>
        <p:spPr bwMode="auto">
          <a:xfrm>
            <a:off x="1051560" y="134416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Chunked time processing (48 frames), gradient checkpointing, detached hidden states, DataParallel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2730963" name="Google Shape;338;p23"/>
          <p:cNvSpPr/>
          <p:nvPr/>
        </p:nvSpPr>
        <p:spPr bwMode="auto">
          <a:xfrm>
            <a:off x="7132320" y="123444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88273054" name="Google Shape;339;p23"/>
          <p:cNvSpPr/>
          <p:nvPr/>
        </p:nvSpPr>
        <p:spPr bwMode="auto">
          <a:xfrm>
            <a:off x="7132320" y="12344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14.5 GB → 4-5 GB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8285061" name="Google Shape;340;p23"/>
          <p:cNvSpPr/>
          <p:nvPr/>
        </p:nvSpPr>
        <p:spPr bwMode="auto"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88532681" name="Google Shape;341;p2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20391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060332" name="Google Shape;342;p23"/>
          <p:cNvSpPr/>
          <p:nvPr/>
        </p:nvSpPr>
        <p:spPr bwMode="auto">
          <a:xfrm>
            <a:off x="105156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NaN Loss Explosions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0038215" name="Google Shape;343;p23"/>
          <p:cNvSpPr/>
          <p:nvPr/>
        </p:nvSpPr>
        <p:spPr bwMode="auto">
          <a:xfrm>
            <a:off x="1051560" y="230428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Disabled AMP (float32), replaced MRS loss with L1freq + LOGL1freq, silent chunk rejection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1253233" name="Google Shape;344;p23"/>
          <p:cNvSpPr/>
          <p:nvPr/>
        </p:nvSpPr>
        <p:spPr bwMode="auto">
          <a:xfrm>
            <a:off x="7132320" y="219456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4134053" name="Google Shape;345;p23"/>
          <p:cNvSpPr/>
          <p:nvPr/>
        </p:nvSpPr>
        <p:spPr bwMode="auto">
          <a:xfrm>
            <a:off x="7132320" y="21945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Stable training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4876387" name="Google Shape;346;p23"/>
          <p:cNvSpPr/>
          <p:nvPr/>
        </p:nvSpPr>
        <p:spPr bwMode="auto"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356582204" name="Google Shape;347;p2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29992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821799" name="Google Shape;348;p23"/>
          <p:cNvSpPr/>
          <p:nvPr/>
        </p:nvSpPr>
        <p:spPr bwMode="auto">
          <a:xfrm>
            <a:off x="105156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Slow Training (~85 min/epoch)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351997" name="Google Shape;349;p23"/>
          <p:cNvSpPr/>
          <p:nvPr/>
        </p:nvSpPr>
        <p:spPr bwMode="auto">
          <a:xfrm>
            <a:off x="1051560" y="326440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Installed mamba-ssm CUDA kernel, replacing Python for-loop SSM scan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703209" name="Google Shape;350;p23"/>
          <p:cNvSpPr/>
          <p:nvPr/>
        </p:nvSpPr>
        <p:spPr bwMode="auto">
          <a:xfrm>
            <a:off x="7132320" y="315468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6585735" name="Google Shape;351;p23"/>
          <p:cNvSpPr/>
          <p:nvPr/>
        </p:nvSpPr>
        <p:spPr bwMode="auto">
          <a:xfrm>
            <a:off x="7132320" y="3154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15× speedup → 6.3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8062511" name="Google Shape;352;p23"/>
          <p:cNvSpPr/>
          <p:nvPr/>
        </p:nvSpPr>
        <p:spPr bwMode="auto"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038935575" name="Google Shape;353;p2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39593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012768" name="Google Shape;354;p23"/>
          <p:cNvSpPr/>
          <p:nvPr/>
        </p:nvSpPr>
        <p:spPr bwMode="auto">
          <a:xfrm>
            <a:off x="1051560" y="39319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  <a:defRPr/>
            </a:pPr>
            <a:r>
              <a:rPr lang="en-US" sz="1200" b="1" i="0" u="none" strike="noStrike" cap="none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Loss Oscillation &amp; Instability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3262892" name="Google Shape;355;p23"/>
          <p:cNvSpPr/>
          <p:nvPr/>
        </p:nvSpPr>
        <p:spPr bwMode="auto">
          <a:xfrm>
            <a:off x="1051560" y="422452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Two-phase loss strategy (Gusó et al.), removed spectral convergence division by near-zero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313488" name="Google Shape;356;p23"/>
          <p:cNvSpPr/>
          <p:nvPr/>
        </p:nvSpPr>
        <p:spPr bwMode="auto">
          <a:xfrm>
            <a:off x="7132320" y="411480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88333267" name="Google Shape;357;p23"/>
          <p:cNvSpPr/>
          <p:nvPr/>
        </p:nvSpPr>
        <p:spPr bwMode="auto">
          <a:xfrm>
            <a:off x="7132320" y="41148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Smooth convergence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5401390" name="Google Shape;358;p23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86359" name="Google Shape;364;p24"/>
          <p:cNvSpPr/>
          <p:nvPr/>
        </p:nvSpPr>
        <p:spPr bwMode="auto"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Remaining Work &amp; Future Directions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6149458" name="Google Shape;365;p24"/>
          <p:cNvSpPr/>
          <p:nvPr/>
        </p:nvSpPr>
        <p:spPr bwMode="auto">
          <a:xfrm>
            <a:off x="411478" y="947256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3055844" name="Google Shape;366;p24"/>
          <p:cNvSpPr/>
          <p:nvPr/>
        </p:nvSpPr>
        <p:spPr bwMode="auto">
          <a:xfrm>
            <a:off x="640078" y="992976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Ablation studies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8958140" name="Google Shape;367;p24"/>
          <p:cNvSpPr/>
          <p:nvPr/>
        </p:nvSpPr>
        <p:spPr bwMode="auto">
          <a:xfrm>
            <a:off x="640078" y="1267296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Temporal module swap (Mamba vs BiLSTM), kernel size sweep, with/without fusion gate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5108690" name="Google Shape;368;p24"/>
          <p:cNvSpPr/>
          <p:nvPr/>
        </p:nvSpPr>
        <p:spPr bwMode="auto">
          <a:xfrm>
            <a:off x="7909558" y="1111848"/>
            <a:ext cx="640200" cy="274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135001" name="Google Shape;369;p24"/>
          <p:cNvSpPr/>
          <p:nvPr/>
        </p:nvSpPr>
        <p:spPr bwMode="auto">
          <a:xfrm>
            <a:off x="7909558" y="1111848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Planned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9596585" name="Google Shape;370;p24"/>
          <p:cNvSpPr/>
          <p:nvPr/>
        </p:nvSpPr>
        <p:spPr bwMode="auto">
          <a:xfrm>
            <a:off x="411478" y="1697064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5320104" name="Google Shape;371;p24"/>
          <p:cNvSpPr/>
          <p:nvPr/>
        </p:nvSpPr>
        <p:spPr bwMode="auto">
          <a:xfrm>
            <a:off x="640078" y="1742784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Inference optimization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6448000" name="Google Shape;372;p24"/>
          <p:cNvSpPr/>
          <p:nvPr/>
        </p:nvSpPr>
        <p:spPr bwMode="auto">
          <a:xfrm>
            <a:off x="640078" y="2017104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ONNX export, quantization (INT8), latency benchmarking on CPU/edge devices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0819250" name="Google Shape;373;p24"/>
          <p:cNvSpPr/>
          <p:nvPr/>
        </p:nvSpPr>
        <p:spPr bwMode="auto">
          <a:xfrm>
            <a:off x="7909558" y="1861656"/>
            <a:ext cx="640200" cy="274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95974583" name="Google Shape;374;p24"/>
          <p:cNvSpPr/>
          <p:nvPr/>
        </p:nvSpPr>
        <p:spPr bwMode="auto">
          <a:xfrm>
            <a:off x="7909558" y="1861656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1148987" name="Google Shape;375;p24"/>
          <p:cNvSpPr/>
          <p:nvPr/>
        </p:nvSpPr>
        <p:spPr bwMode="auto">
          <a:xfrm>
            <a:off x="411478" y="2446872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5915666" name="Google Shape;376;p24"/>
          <p:cNvSpPr/>
          <p:nvPr/>
        </p:nvSpPr>
        <p:spPr bwMode="auto">
          <a:xfrm>
            <a:off x="640078" y="2492591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  <a:defRPr/>
            </a:pPr>
            <a:r>
              <a:rPr lang="en-US" sz="1300" b="1" i="0" u="none" strike="noStrike" cap="none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Larger dataset training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881209" name="Google Shape;377;p24"/>
          <p:cNvSpPr/>
          <p:nvPr/>
        </p:nvSpPr>
        <p:spPr bwMode="auto">
          <a:xfrm>
            <a:off x="640078" y="276691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Scale to MoisesDB (240 tracks) for improved generalization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0652727" name="Google Shape;378;p24"/>
          <p:cNvSpPr/>
          <p:nvPr/>
        </p:nvSpPr>
        <p:spPr bwMode="auto">
          <a:xfrm>
            <a:off x="7909558" y="2611464"/>
            <a:ext cx="640200" cy="274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6412255" name="Google Shape;379;p24"/>
          <p:cNvSpPr/>
          <p:nvPr/>
        </p:nvSpPr>
        <p:spPr bwMode="auto">
          <a:xfrm>
            <a:off x="7909558" y="2611464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03355" name="Google Shape;380;p24"/>
          <p:cNvSpPr/>
          <p:nvPr/>
        </p:nvSpPr>
        <p:spPr bwMode="auto">
          <a:xfrm>
            <a:off x="8549743" y="4701960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106418" name="Google Shape;386;p25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330433314" name="Google Shape;387;p25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3152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67341060" name="Google Shape;388;p25"/>
          <p:cNvSpPr/>
          <p:nvPr/>
        </p:nvSpPr>
        <p:spPr bwMode="auto">
          <a:xfrm>
            <a:off x="1188720" y="320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  <a:defRPr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References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9879056" name="Google Shape;389;p25"/>
          <p:cNvSpPr/>
          <p:nvPr/>
        </p:nvSpPr>
        <p:spPr bwMode="auto">
          <a:xfrm>
            <a:off x="73152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[1] Luo &amp; Yu. TS-BSMamba2: Bidirectional Mamba-2 for Music Source Separation. Sep 2024.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0513345" name="Google Shape;390;p25"/>
          <p:cNvSpPr/>
          <p:nvPr/>
        </p:nvSpPr>
        <p:spPr bwMode="auto">
          <a:xfrm>
            <a:off x="731520" y="129844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[2] Liu et al. SCNet: Sparse Compression Network for MSS. ICASSP 2024.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6096530" name="Google Shape;391;p25"/>
          <p:cNvSpPr/>
          <p:nvPr/>
        </p:nvSpPr>
        <p:spPr bwMode="auto">
          <a:xfrm>
            <a:off x="731520" y="168249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[3] García et al. Moises-Light: Efficient Band-Split RoPE Transformer. 2024.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4323366" name="Google Shape;392;p25"/>
          <p:cNvSpPr/>
          <p:nvPr/>
        </p:nvSpPr>
        <p:spPr bwMode="auto">
          <a:xfrm>
            <a:off x="731520" y="206654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[4] Cho et al. Windowed Sink Attention for MSS. Oct 2025.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187388" name="Google Shape;393;p25"/>
          <p:cNvSpPr/>
          <p:nvPr/>
        </p:nvSpPr>
        <p:spPr bwMode="auto">
          <a:xfrm>
            <a:off x="731520" y="245059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[5] Li et al. MSNet: Mamba-based Separation Network. Oct 2025.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1010981" name="Google Shape;394;p25"/>
          <p:cNvSpPr/>
          <p:nvPr/>
        </p:nvSpPr>
        <p:spPr bwMode="auto">
          <a:xfrm>
            <a:off x="7315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[6] Luo et al. BSRNN: Band-Split RNN for MSS. ICASSP 2023.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664443" name="Google Shape;395;p25"/>
          <p:cNvSpPr/>
          <p:nvPr/>
        </p:nvSpPr>
        <p:spPr bwMode="auto">
          <a:xfrm>
            <a:off x="731520" y="321868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[7] Lu et al. DTTNet: Dual-path Transformer. 2024.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1284292" name="Google Shape;396;p25"/>
          <p:cNvSpPr/>
          <p:nvPr/>
        </p:nvSpPr>
        <p:spPr bwMode="auto">
          <a:xfrm>
            <a:off x="731520" y="3602735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[8] Lu et al. BS-RoFormer / Mel-Band RoFormer. 2024.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9930246" name="Google Shape;397;p25"/>
          <p:cNvSpPr/>
          <p:nvPr/>
        </p:nvSpPr>
        <p:spPr bwMode="auto">
          <a:xfrm>
            <a:off x="731520" y="39867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[9] Gu &amp; Dao. Mamba: Linear-Time Sequence Modeling with Selective State Spaces. 2023.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4536486" name="Google Shape;398;p25"/>
          <p:cNvSpPr/>
          <p:nvPr/>
        </p:nvSpPr>
        <p:spPr bwMode="auto">
          <a:xfrm>
            <a:off x="731520" y="437083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[10] Gusó et al. On Loss Functions and Evaluation Metrics for MSS. 2022.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2589257" name="Google Shape;399;p25"/>
          <p:cNvSpPr/>
          <p:nvPr/>
        </p:nvSpPr>
        <p:spPr bwMode="auto"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773212" name=""/>
          <p:cNvSpPr txBox="1"/>
          <p:nvPr/>
        </p:nvSpPr>
        <p:spPr bwMode="auto">
          <a:xfrm rot="0" flipH="0" flipV="0">
            <a:off x="689733" y="952499"/>
            <a:ext cx="774663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50322381" name=""/>
          <p:cNvSpPr/>
          <p:nvPr/>
        </p:nvSpPr>
        <p:spPr bwMode="auto">
          <a:xfrm flipH="0" flipV="0">
            <a:off x="1122452" y="1810308"/>
            <a:ext cx="6899094" cy="11890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7200" b="1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rPr>
              <a:t>THANK YOU</a:t>
            </a:r>
            <a:endParaRPr sz="7200" b="1"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</cp:revision>
  <dcterms:modified xsi:type="dcterms:W3CDTF">2026-03-25T06:30:20Z</dcterms:modified>
</cp:coreProperties>
</file>